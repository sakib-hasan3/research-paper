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87" r:id="rId2"/>
    <p:sldId id="263" r:id="rId3"/>
    <p:sldId id="264" r:id="rId4"/>
    <p:sldId id="271" r:id="rId5"/>
    <p:sldId id="266" r:id="rId6"/>
    <p:sldId id="265" r:id="rId7"/>
    <p:sldId id="267" r:id="rId8"/>
    <p:sldId id="272" r:id="rId9"/>
    <p:sldId id="268" r:id="rId10"/>
    <p:sldId id="296" r:id="rId11"/>
    <p:sldId id="269" r:id="rId12"/>
    <p:sldId id="291" r:id="rId13"/>
    <p:sldId id="273" r:id="rId14"/>
    <p:sldId id="288" r:id="rId15"/>
    <p:sldId id="274" r:id="rId16"/>
    <p:sldId id="290" r:id="rId17"/>
    <p:sldId id="270" r:id="rId18"/>
    <p:sldId id="297" r:id="rId19"/>
    <p:sldId id="275" r:id="rId20"/>
    <p:sldId id="292" r:id="rId21"/>
    <p:sldId id="293" r:id="rId22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libri Light" panose="020F0302020204030204" pitchFamily="34" charset="0"/>
      <p:regular r:id="rId27"/>
      <p:italic r:id="rId28"/>
    </p:embeddedFont>
    <p:embeddedFont>
      <p:font typeface="Lexend" panose="020B0604020202020204" charset="0"/>
      <p:regular r:id="rId29"/>
      <p:bold r:id="rId30"/>
    </p:embeddedFont>
    <p:embeddedFont>
      <p:font typeface="Tahoma" panose="020B0604030504040204" pitchFamily="34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5789"/>
    <a:srgbClr val="FFF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6" autoAdjust="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1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Introduction, Background/Lit. Review, Methodology, Results, Conclusion&amp; Future Works, Reference…You can include new sections and slides.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83E5-4640-4E4A-AE83-933C0853829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8948C-1D0B-4456-94D4-9127FFA813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alphaModFix amt="2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83E5-4640-4E4A-AE83-933C0853829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8948C-1D0B-4456-94D4-9127FFA813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alphaModFix amt="1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83E5-4640-4E4A-AE83-933C0853829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8948C-1D0B-4456-94D4-9127FFA813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alphaModFix amt="3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83E5-4640-4E4A-AE83-933C0853829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8948C-1D0B-4456-94D4-9127FFA813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alphaModFix amt="3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83E5-4640-4E4A-AE83-933C0853829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8948C-1D0B-4456-94D4-9127FFA813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alphaModFix amt="3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83E5-4640-4E4A-AE83-933C0853829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8948C-1D0B-4456-94D4-9127FFA813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alphaModFix amt="31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083E5-4640-4E4A-AE83-933C0853829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8948C-1D0B-4456-94D4-9127FFA813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889A-CBDB-4BB7-9DD7-4ED585DEB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33F8D5-FA6C-4E16-9FDD-ECFAA4830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8865C-0A11-4482-9A82-46553BC16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BB2FA-DE92-4555-9413-F7F37415BEB0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EBF8B-FBFE-4941-B7EA-38F71D01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5D369-EF5A-4F43-B2E7-77DD2685D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CDF55-BA96-435B-8947-16787D75C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0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371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083E5-4640-4E4A-AE83-933C0853829C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8948C-1D0B-4456-94D4-9127FFA8139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8798767" y="5568055"/>
            <a:ext cx="3290596" cy="1397203"/>
            <a:chOff x="7483151" y="3549348"/>
            <a:chExt cx="3290596" cy="1397203"/>
          </a:xfrm>
        </p:grpSpPr>
        <p:sp>
          <p:nvSpPr>
            <p:cNvPr id="10" name="TextBox 9"/>
            <p:cNvSpPr txBox="1"/>
            <p:nvPr/>
          </p:nvSpPr>
          <p:spPr>
            <a:xfrm>
              <a:off x="8610962" y="3823167"/>
              <a:ext cx="2162785" cy="11233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0" i="0" dirty="0"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sz="2000" b="0" i="0" baseline="30000" dirty="0"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r>
                <a:rPr lang="en-US" sz="2000" b="0" i="0" dirty="0">
                  <a:solidFill>
                    <a:schemeClr val="accent1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 International </a:t>
              </a:r>
              <a:r>
                <a:rPr lang="en-US" sz="1100" b="0" i="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Women in Engineering Conference on Electrical and Computer Engineering 2025</a:t>
              </a:r>
            </a:p>
            <a:p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577842" y="3549348"/>
              <a:ext cx="21627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Josefin Sans Medium" pitchFamily="2" charset="0"/>
                </a:rPr>
                <a:t>C O X’ S  B A Z A R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7483151" y="3602751"/>
              <a:ext cx="1111251" cy="1103588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6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E323ED9-A590-0218-E605-1CCB308C699A}"/>
              </a:ext>
            </a:extLst>
          </p:cNvPr>
          <p:cNvSpPr txBox="1"/>
          <p:nvPr/>
        </p:nvSpPr>
        <p:spPr>
          <a:xfrm>
            <a:off x="1488438" y="2527639"/>
            <a:ext cx="9215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C00000"/>
                </a:solidFill>
                <a:latin typeface="Lexend" panose="020B0604020202020204" charset="0"/>
              </a:rPr>
              <a:t>TITLE: </a:t>
            </a:r>
            <a:r>
              <a:rPr lang="en-US" sz="2000" b="1" dirty="0" err="1">
                <a:solidFill>
                  <a:srgbClr val="FF0000"/>
                </a:solidFill>
                <a:latin typeface="Lexend" panose="020B0604020202020204" charset="0"/>
              </a:rPr>
              <a:t>StrokeGuardian</a:t>
            </a:r>
            <a:r>
              <a:rPr lang="en-US" sz="2000" b="1" dirty="0">
                <a:solidFill>
                  <a:srgbClr val="FF0000"/>
                </a:solidFill>
                <a:latin typeface="Lexend" panose="020B0604020202020204" charset="0"/>
              </a:rPr>
              <a:t>: Hybrid Ensemble ML for  Real-Time Brain Stroke Prediction and Clinical Decision Support</a:t>
            </a:r>
            <a:endParaRPr lang="en-GB" b="1" dirty="0">
              <a:solidFill>
                <a:srgbClr val="FF0000"/>
              </a:solidFill>
              <a:latin typeface="Lexend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470066-71DA-A7A8-473D-F0543C7865DE}"/>
              </a:ext>
            </a:extLst>
          </p:cNvPr>
          <p:cNvSpPr txBox="1"/>
          <p:nvPr/>
        </p:nvSpPr>
        <p:spPr>
          <a:xfrm>
            <a:off x="1921954" y="3363295"/>
            <a:ext cx="854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Lexend" panose="020B0604020202020204" charset="0"/>
              </a:rPr>
              <a:t>Mohammed Sakib Hasan ,  Abdul </a:t>
            </a:r>
            <a:r>
              <a:rPr lang="en-US" b="1" dirty="0" err="1">
                <a:latin typeface="Lexend" panose="020B0604020202020204" charset="0"/>
              </a:rPr>
              <a:t>Jobayer</a:t>
            </a:r>
            <a:r>
              <a:rPr lang="en-US" b="1" dirty="0">
                <a:latin typeface="Lexend" panose="020B0604020202020204" charset="0"/>
              </a:rPr>
              <a:t> ,  </a:t>
            </a:r>
            <a:r>
              <a:rPr lang="en-US" b="1" dirty="0" err="1">
                <a:latin typeface="Lexend" panose="020B0604020202020204" charset="0"/>
              </a:rPr>
              <a:t>Jihadul</a:t>
            </a:r>
            <a:r>
              <a:rPr lang="en-US" b="1" dirty="0">
                <a:latin typeface="Lexend" panose="020B0604020202020204" charset="0"/>
              </a:rPr>
              <a:t> Islam, </a:t>
            </a:r>
            <a:r>
              <a:rPr lang="en-US" b="1" dirty="0" err="1">
                <a:latin typeface="Lexend" panose="020B0604020202020204" charset="0"/>
              </a:rPr>
              <a:t>Sanjida</a:t>
            </a:r>
            <a:r>
              <a:rPr lang="en-US" b="1" dirty="0">
                <a:latin typeface="Lexend" panose="020B0604020202020204" charset="0"/>
              </a:rPr>
              <a:t> Islam </a:t>
            </a:r>
            <a:r>
              <a:rPr lang="en-US" b="1" dirty="0" err="1">
                <a:latin typeface="Lexend" panose="020B0604020202020204" charset="0"/>
              </a:rPr>
              <a:t>Nuha</a:t>
            </a:r>
            <a:r>
              <a:rPr lang="en-US" b="1" dirty="0">
                <a:latin typeface="Lexend" panose="020B0604020202020204" charset="0"/>
              </a:rPr>
              <a:t> , Golam Md. </a:t>
            </a:r>
            <a:r>
              <a:rPr lang="en-US" b="1" dirty="0" err="1">
                <a:latin typeface="Lexend" panose="020B0604020202020204" charset="0"/>
              </a:rPr>
              <a:t>Muradul</a:t>
            </a:r>
            <a:r>
              <a:rPr lang="en-US" b="1" dirty="0">
                <a:latin typeface="Lexend" panose="020B0604020202020204" charset="0"/>
              </a:rPr>
              <a:t> Bashir</a:t>
            </a:r>
            <a:endParaRPr lang="en-GB" b="1" dirty="0">
              <a:latin typeface="Lexend" panose="020B0604020202020204" charset="0"/>
              <a:cs typeface="Times New Roman" panose="02020603050405020304" pitchFamily="18" charset="0"/>
            </a:endParaRPr>
          </a:p>
          <a:p>
            <a:pPr lvl="0" algn="ctr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Science and Engineering </a:t>
            </a:r>
          </a:p>
          <a:p>
            <a:pPr lvl="0"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Patuakhali Science and Technology University, Bangladesh</a:t>
            </a:r>
            <a:endParaRPr lang="en-GB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9FC036-0254-55AA-6F26-DBE3F6CF0FCD}"/>
              </a:ext>
            </a:extLst>
          </p:cNvPr>
          <p:cNvSpPr txBox="1"/>
          <p:nvPr/>
        </p:nvSpPr>
        <p:spPr>
          <a:xfrm>
            <a:off x="4856777" y="2092134"/>
            <a:ext cx="224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Lexend" panose="020B0604020202020204" charset="0"/>
              </a:rPr>
              <a:t>Paper ID : 482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702A31-13A6-717B-8569-50077057FC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565" y="4898364"/>
            <a:ext cx="1095784" cy="11910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62B43D8-D169-CD09-A4EE-97AD32A0A140}"/>
              </a:ext>
            </a:extLst>
          </p:cNvPr>
          <p:cNvSpPr txBox="1"/>
          <p:nvPr/>
        </p:nvSpPr>
        <p:spPr>
          <a:xfrm>
            <a:off x="2814915" y="6165502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sz="1600" dirty="0" err="1">
                <a:latin typeface="Lexend" panose="020B0604020202020204" charset="0"/>
              </a:rPr>
              <a:t>Jihadul</a:t>
            </a:r>
            <a:r>
              <a:rPr lang="en-US" sz="1600" dirty="0">
                <a:latin typeface="Lexend" panose="020B0604020202020204" charset="0"/>
              </a:rPr>
              <a:t> Islam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baseline="-25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B.Sc. </a:t>
            </a:r>
            <a:r>
              <a:rPr lang="en-US" b="1" baseline="-25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r>
              <a:rPr lang="en-US" b="1" baseline="-25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 CSE</a:t>
            </a:r>
          </a:p>
          <a:p>
            <a:pPr algn="ctr"/>
            <a:endParaRPr lang="en-US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62F366-D104-7B5A-2243-421E78A6A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682" y="0"/>
            <a:ext cx="12210682" cy="179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6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40"/>
    </mc:Choice>
    <mc:Fallback xmlns="">
      <p:transition spd="slow" advTm="300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720090" y="153782"/>
            <a:ext cx="609600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Outlines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720090" y="1122680"/>
            <a:ext cx="7954645" cy="42614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342900" indent="-342900" fontAlgn="auto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Literature Review / Related Work</a:t>
            </a:r>
          </a:p>
          <a:p>
            <a:pPr marL="342900" indent="-342900" fontAlgn="auto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Statement</a:t>
            </a:r>
          </a:p>
          <a:p>
            <a:pPr marL="342900" indent="-342900" fontAlgn="auto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Motivation and </a:t>
            </a: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Objectives</a:t>
            </a:r>
          </a:p>
          <a:p>
            <a:pPr marL="342900" indent="-342900" fontAlgn="auto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Methodology</a:t>
            </a:r>
          </a:p>
          <a:p>
            <a:pPr marL="342900" indent="-342900" fontAlgn="auto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Results, Analysis, and Discussion</a:t>
            </a:r>
          </a:p>
          <a:p>
            <a:pPr marL="342900" indent="-342900" fontAlgn="auto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Impact, Outcomes, and Limitations</a:t>
            </a:r>
          </a:p>
          <a:p>
            <a:pPr marL="342900" indent="-342900" fontAlgn="auto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604" y="-1426369"/>
            <a:ext cx="10515600" cy="2852737"/>
          </a:xfrm>
        </p:spPr>
        <p:txBody>
          <a:bodyPr>
            <a:normAutofit/>
          </a:bodyPr>
          <a:lstStyle/>
          <a:p>
            <a:r>
              <a:rPr lang="en-GB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Introduction</a:t>
            </a:r>
            <a:endParaRPr lang="en-US" sz="40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1992" y="1748190"/>
            <a:ext cx="5855373" cy="4706397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tx1"/>
                </a:solidFill>
                <a:latin typeface="Lexend" panose="020B0604020202020204" charset="0"/>
              </a:rPr>
              <a:t>Stroke is a leading cause of death &amp; disability worldwide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solidFill>
                  <a:schemeClr val="tx1"/>
                </a:solidFill>
                <a:latin typeface="Lexend" panose="020B0604020202020204" charset="0"/>
              </a:rPr>
              <a:t>15 million+ cases annually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solidFill>
                  <a:schemeClr val="tx1"/>
                </a:solidFill>
                <a:latin typeface="Lexend" panose="020B0604020202020204" charset="0"/>
              </a:rPr>
              <a:t>50% of survivors face permanent impairment</a:t>
            </a:r>
          </a:p>
          <a:p>
            <a:pPr lvl="1"/>
            <a:endParaRPr lang="en-US" sz="2400" dirty="0">
              <a:ln w="0"/>
              <a:solidFill>
                <a:schemeClr val="tx1"/>
              </a:solidFill>
              <a:latin typeface="Lexen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tx1"/>
                </a:solidFill>
                <a:latin typeface="Lexend" panose="020B0604020202020204" charset="0"/>
              </a:rPr>
              <a:t>Early detection is critical, but traditional tools are limited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C13C72-5EFC-4A95-8A4C-2E4E9E602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828" y="1120588"/>
            <a:ext cx="4894729" cy="32631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04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Related Works</a:t>
            </a:r>
            <a:endParaRPr lang="en-GB" alt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7719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Rana et al. – </a:t>
            </a:r>
            <a:r>
              <a:rPr lang="en-US" sz="2400" i="1" dirty="0">
                <a:latin typeface="Lexend" panose="020B0604020202020204" charset="0"/>
              </a:rPr>
              <a:t>Stroke Risk Prediction Using Random Forest and SMOTE with Web Application</a:t>
            </a:r>
            <a:r>
              <a:rPr lang="en-US" sz="2400" dirty="0">
                <a:latin typeface="Lexend" panose="020B0604020202020204" charset="0"/>
              </a:rPr>
              <a:t> – 2025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Chowdhury et al. – </a:t>
            </a:r>
            <a:r>
              <a:rPr lang="en-US" sz="2400" i="1" dirty="0">
                <a:latin typeface="Lexend" panose="020B0604020202020204" charset="0"/>
              </a:rPr>
              <a:t>Deep Learning and Ensemble-Based Frameworks for Brain Stroke Prediction: A Comparative Study</a:t>
            </a:r>
            <a:r>
              <a:rPr lang="en-US" sz="2400" dirty="0">
                <a:latin typeface="Lexend" panose="020B0604020202020204" charset="0"/>
              </a:rPr>
              <a:t> – 2025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Lakshmi et al. – *Hybrid Deep Learning Framework for Stroke Detection using EfficientNetB0-BiLSTM* – 2025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Sharma et al. – </a:t>
            </a:r>
            <a:r>
              <a:rPr lang="en-US" sz="2400" i="1" dirty="0">
                <a:latin typeface="Lexend" panose="020B0604020202020204" charset="0"/>
              </a:rPr>
              <a:t>Comparative Analysis of Machine Learning and Deep Learning Algorithms for Brain Stroke Prediction</a:t>
            </a:r>
            <a:r>
              <a:rPr lang="en-US" sz="2400" dirty="0">
                <a:latin typeface="Lexend" panose="020B0604020202020204" charset="0"/>
              </a:rPr>
              <a:t> – 2024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Lexend" panose="020B0604020202020204" charset="0"/>
              </a:rPr>
              <a:t>Nantinda</a:t>
            </a:r>
            <a:r>
              <a:rPr lang="en-US" sz="2400" dirty="0">
                <a:latin typeface="Lexend" panose="020B0604020202020204" charset="0"/>
              </a:rPr>
              <a:t> et al. – </a:t>
            </a:r>
            <a:r>
              <a:rPr lang="en-US" sz="2400" i="1" dirty="0">
                <a:latin typeface="Lexend" panose="020B0604020202020204" charset="0"/>
              </a:rPr>
              <a:t>A Comprehensive Review of Machine Learning Models for Stroke Risk and Post-Stroke Outcome Prediction</a:t>
            </a:r>
            <a:r>
              <a:rPr lang="en-US" sz="2400" dirty="0">
                <a:latin typeface="Lexend" panose="020B0604020202020204" charset="0"/>
              </a:rPr>
              <a:t> – 2024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Lexend" panose="020B0604020202020204" charset="0"/>
            </a:endParaRPr>
          </a:p>
          <a:p>
            <a:endParaRPr lang="en-US" sz="2400" dirty="0">
              <a:latin typeface="Lexend" panose="020B0604020202020204" charset="0"/>
            </a:endParaRPr>
          </a:p>
          <a:p>
            <a:br>
              <a:rPr lang="en-US" sz="2400" dirty="0">
                <a:latin typeface="Lexend" panose="020B0604020202020204" charset="0"/>
              </a:rPr>
            </a:br>
            <a:endParaRPr lang="en-US" altLang="en-GB" sz="2400" dirty="0">
              <a:solidFill>
                <a:srgbClr val="FF0000"/>
              </a:solidFill>
              <a:latin typeface="Lexend" panose="020B0604020202020204" charset="0"/>
              <a:ea typeface="Tahoma" panose="020B0604030504040204" pitchFamily="34" charset="0"/>
              <a:cs typeface="Tahoma" panose="020B0604030504040204" pitchFamily="34" charset="0"/>
              <a:sym typeface="+mn-ea"/>
            </a:endParaRPr>
          </a:p>
          <a:p>
            <a:pPr lvl="0" algn="just">
              <a:lnSpc>
                <a:spcPct val="170000"/>
              </a:lnSpc>
              <a:spcBef>
                <a:spcPts val="0"/>
              </a:spcBef>
            </a:pPr>
            <a:endParaRPr lang="en-US" altLang="en-GB" sz="2400" dirty="0">
              <a:solidFill>
                <a:srgbClr val="FF0000"/>
              </a:solidFill>
              <a:latin typeface="Lexend" panose="020B0604020202020204" charset="0"/>
              <a:ea typeface="Tahoma" panose="020B0604030504040204" pitchFamily="34" charset="0"/>
              <a:cs typeface="Tahoma" panose="020B0604030504040204" pitchFamily="34" charset="0"/>
              <a:sym typeface="+mn-ea"/>
            </a:endParaRPr>
          </a:p>
          <a:p>
            <a:pPr lvl="0" algn="just">
              <a:lnSpc>
                <a:spcPct val="170000"/>
              </a:lnSpc>
              <a:spcBef>
                <a:spcPts val="0"/>
              </a:spcBef>
            </a:pPr>
            <a:endParaRPr lang="en-US" altLang="en-GB" sz="2400" dirty="0">
              <a:solidFill>
                <a:srgbClr val="FF0000"/>
              </a:solidFill>
              <a:latin typeface="Lexend" panose="020B0604020202020204" charset="0"/>
              <a:ea typeface="Tahoma" panose="020B0604030504040204" pitchFamily="34" charset="0"/>
              <a:cs typeface="Tahoma" panose="020B060403050404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GB" sz="4000" b="1">
                <a:latin typeface="Tahoma" panose="020B0604030504040204" pitchFamily="34" charset="0"/>
                <a:cs typeface="Tahoma" panose="020B0604030504040204" pitchFamily="34" charset="0"/>
              </a:rPr>
              <a:t>Problem Statement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38200" y="1662696"/>
            <a:ext cx="9712325" cy="3379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Most models are tested in controlled settings, not in noisy clinical environments.</a:t>
            </a:r>
            <a:endParaRPr lang="en-US" altLang="en-GB" sz="2400" dirty="0">
              <a:latin typeface="Lexend" panose="020B060402020202020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Models often fail when faced with imbalanced, incomplete, or multi-source clinical data.</a:t>
            </a:r>
            <a:endParaRPr lang="en-US" altLang="en-GB" sz="2400" dirty="0">
              <a:latin typeface="Lexend" panose="020B060402020202020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Few systems offer live risk assessment with a clinician-friendly interface.</a:t>
            </a:r>
            <a:endParaRPr lang="en-US" altLang="en-GB" sz="2400" dirty="0">
              <a:latin typeface="Lexend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483" y="3172533"/>
            <a:ext cx="4555490" cy="78359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Objectives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6811" y="4063698"/>
            <a:ext cx="10583545" cy="2248535"/>
          </a:xfrm>
        </p:spPr>
        <p:txBody>
          <a:bodyPr>
            <a:normAutofit fontScale="97500"/>
          </a:bodyPr>
          <a:lstStyle/>
          <a:p>
            <a:r>
              <a:rPr lang="en-US" sz="2500" dirty="0">
                <a:latin typeface="Lexend" panose="020B0604020202020204" charset="0"/>
              </a:rPr>
              <a:t>Combine Neural Networks, SVM, and </a:t>
            </a:r>
            <a:r>
              <a:rPr lang="en-US" sz="2500" dirty="0" err="1">
                <a:latin typeface="Lexend" panose="020B0604020202020204" charset="0"/>
              </a:rPr>
              <a:t>XGBoost</a:t>
            </a:r>
            <a:r>
              <a:rPr lang="en-US" sz="2500" dirty="0">
                <a:latin typeface="Lexend" panose="020B0604020202020204" charset="0"/>
              </a:rPr>
              <a:t> into a weighted voting system for superior accuracy.</a:t>
            </a:r>
          </a:p>
          <a:p>
            <a:r>
              <a:rPr lang="en-US" sz="2500" dirty="0">
                <a:latin typeface="Lexend" panose="020B0604020202020204" charset="0"/>
              </a:rPr>
              <a:t>Apply SHAP and LIME to make model decisions transparent and clinically interpretable.</a:t>
            </a:r>
          </a:p>
          <a:p>
            <a:pPr marL="0" indent="0">
              <a:buNone/>
            </a:pPr>
            <a:endParaRPr lang="en-US" sz="2665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6483" y="1042071"/>
            <a:ext cx="10361295" cy="2593975"/>
          </a:xfrm>
        </p:spPr>
        <p:txBody>
          <a:bodyPr>
            <a:normAutofit fontScale="97500"/>
          </a:bodyPr>
          <a:lstStyle/>
          <a:p>
            <a:pPr algn="just">
              <a:lnSpc>
                <a:spcPct val="120000"/>
              </a:lnSpc>
            </a:pPr>
            <a:r>
              <a:rPr lang="en-US" sz="2400" dirty="0">
                <a:latin typeface="Lexend" panose="020B0604020202020204" charset="0"/>
              </a:rPr>
              <a:t>Stroke is a leading cause of death &amp; disability worldwide</a:t>
            </a:r>
            <a:endParaRPr lang="en-US" altLang="en-GB" sz="2400" dirty="0">
              <a:latin typeface="Lexend" panose="020B0604020202020204" charset="0"/>
              <a:cs typeface="Tahoma" panose="020B060403050404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sz="2400" dirty="0">
                <a:latin typeface="Lexend" panose="020B0604020202020204" charset="0"/>
              </a:rPr>
              <a:t>Combines models for richer, more accurate predictions</a:t>
            </a:r>
          </a:p>
          <a:p>
            <a:pPr algn="just">
              <a:lnSpc>
                <a:spcPct val="120000"/>
              </a:lnSpc>
            </a:pPr>
            <a:r>
              <a:rPr lang="en-US" sz="2400" dirty="0">
                <a:latin typeface="Lexend" panose="020B0604020202020204" charset="0"/>
              </a:rPr>
              <a:t>We built a real-time system doctors can actually use</a:t>
            </a:r>
            <a:endParaRPr lang="en-US" altLang="en-GB" sz="2400" dirty="0">
              <a:latin typeface="Lexend" panose="020B0604020202020204" charset="0"/>
              <a:cs typeface="Tahoma" panose="020B060403050404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58906" y="417195"/>
            <a:ext cx="4555490" cy="783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Tahoma" panose="020B0604030504040204" pitchFamily="34" charset="0"/>
                <a:cs typeface="Tahoma" panose="020B0604030504040204" pitchFamily="34" charset="0"/>
                <a:sym typeface="+mn-ea"/>
              </a:rPr>
              <a:t>Motivation</a:t>
            </a:r>
            <a:endParaRPr lang="en-US" sz="4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Methodology</a:t>
            </a:r>
            <a:endParaRPr lang="en-US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2" y="1273970"/>
            <a:ext cx="5157787" cy="823912"/>
          </a:xfrm>
        </p:spPr>
        <p:txBody>
          <a:bodyPr/>
          <a:lstStyle/>
          <a:p>
            <a:r>
              <a:rPr lang="en-US" dirty="0"/>
              <a:t>Data Collection &amp; Preprocessing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6611" y="2164416"/>
            <a:ext cx="6227577" cy="3684588"/>
          </a:xfrm>
        </p:spPr>
        <p:txBody>
          <a:bodyPr>
            <a:noAutofit/>
          </a:bodyPr>
          <a:lstStyle/>
          <a:p>
            <a:r>
              <a:rPr lang="en-US" sz="2000" b="1" dirty="0"/>
              <a:t>35,000 clinical records</a:t>
            </a:r>
            <a:r>
              <a:rPr lang="en-US" sz="2000" dirty="0"/>
              <a:t>, 19 features (age, BMI, glucose, symptoms, etc.)</a:t>
            </a:r>
          </a:p>
          <a:p>
            <a:r>
              <a:rPr lang="en-US" sz="2000" dirty="0"/>
              <a:t>Binary labels: </a:t>
            </a:r>
            <a:r>
              <a:rPr lang="en-US" sz="2000" b="1" dirty="0"/>
              <a:t>Stroke Risk (1) vs. No Risk (0)</a:t>
            </a:r>
            <a:endParaRPr lang="en-US" sz="2000" dirty="0"/>
          </a:p>
          <a:p>
            <a:r>
              <a:rPr lang="en-US" sz="2000" dirty="0"/>
              <a:t>Publicly sourced from Kaggle (Stroke Risk Prediction Dataset v2)</a:t>
            </a:r>
          </a:p>
          <a:p>
            <a:endParaRPr lang="en-US" altLang="en-GB" sz="800" i="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2400" b="1" dirty="0"/>
              <a:t>Preprocessing Steps:</a:t>
            </a:r>
            <a:endParaRPr lang="en-US" sz="2400" dirty="0"/>
          </a:p>
          <a:p>
            <a:r>
              <a:rPr lang="en-US" sz="2000" b="1" dirty="0"/>
              <a:t>SMOTE</a:t>
            </a:r>
            <a:r>
              <a:rPr lang="en-US" sz="2000" dirty="0"/>
              <a:t> – Balanced imbalanced classes</a:t>
            </a:r>
          </a:p>
          <a:p>
            <a:r>
              <a:rPr lang="en-US" sz="2000" b="1" dirty="0"/>
              <a:t>Scaling</a:t>
            </a:r>
            <a:r>
              <a:rPr lang="en-US" sz="2000" dirty="0"/>
              <a:t> – Standardized numerical features</a:t>
            </a:r>
          </a:p>
          <a:p>
            <a:r>
              <a:rPr lang="en-US" sz="2000" b="1" dirty="0"/>
              <a:t>Outlier Removal</a:t>
            </a:r>
            <a:r>
              <a:rPr lang="en-US" sz="2000" dirty="0"/>
              <a:t> – IQR method for clinical realism</a:t>
            </a:r>
          </a:p>
          <a:p>
            <a:r>
              <a:rPr lang="en-US" sz="2000" b="1" dirty="0"/>
              <a:t>PCA</a:t>
            </a:r>
            <a:r>
              <a:rPr lang="en-US" sz="2000" dirty="0"/>
              <a:t> – Reduced dimensionality, removed redundancy</a:t>
            </a:r>
          </a:p>
          <a:p>
            <a:br>
              <a:rPr lang="en-US" sz="800" dirty="0"/>
            </a:br>
            <a:endParaRPr lang="en-US" altLang="en-GB" sz="80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en-GB" sz="800" i="0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6DCDD2-784C-4EF0-886B-E5D0B998C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93858" y="5468471"/>
            <a:ext cx="4461529" cy="721192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7596DF-D59E-4E8E-B516-8A3BAC924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610" y="818668"/>
            <a:ext cx="4587035" cy="46498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Lexend" panose="020B0604020202020204" charset="0"/>
              </a:rPr>
              <a:t>Feature Engineering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106" y="1568450"/>
            <a:ext cx="5471048" cy="4093845"/>
          </a:xfrm>
        </p:spPr>
        <p:txBody>
          <a:bodyPr>
            <a:noAutofit/>
          </a:bodyPr>
          <a:lstStyle/>
          <a:p>
            <a:r>
              <a:rPr lang="en-US" sz="2400" dirty="0">
                <a:latin typeface="Lexend" panose="020B0604020202020204" charset="0"/>
              </a:rPr>
              <a:t>Removed highly correlated features (r &gt; 0.85)</a:t>
            </a:r>
          </a:p>
          <a:p>
            <a:pPr marL="0" indent="0">
              <a:buNone/>
            </a:pPr>
            <a:endParaRPr lang="en-US" sz="2400" dirty="0">
              <a:latin typeface="Lexend" panose="020B0604020202020204" charset="0"/>
            </a:endParaRPr>
          </a:p>
          <a:p>
            <a:r>
              <a:rPr lang="en-US" sz="2400" dirty="0">
                <a:latin typeface="Lexend" panose="020B0604020202020204" charset="0"/>
              </a:rPr>
              <a:t>Added clinical groupings (BMI/glucose risk levels)</a:t>
            </a:r>
          </a:p>
          <a:p>
            <a:pPr marL="0" indent="0">
              <a:buNone/>
            </a:pPr>
            <a:endParaRPr lang="en-US" sz="2400" dirty="0">
              <a:latin typeface="Lexend" panose="020B0604020202020204" charset="0"/>
            </a:endParaRPr>
          </a:p>
          <a:p>
            <a:r>
              <a:rPr lang="en-US" sz="2400" dirty="0">
                <a:latin typeface="Lexend" panose="020B0604020202020204" charset="0"/>
              </a:rPr>
              <a:t>Used SHAP for interpretable feature importance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2400" b="1" i="0" dirty="0">
              <a:solidFill>
                <a:srgbClr val="000000"/>
              </a:solidFill>
              <a:latin typeface="Lexend" panose="020B060402020202020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altLang="en-GB" sz="2400" b="1" i="0" dirty="0">
              <a:solidFill>
                <a:srgbClr val="000000"/>
              </a:solidFill>
              <a:latin typeface="Lexend" panose="020B060402020202020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EFAC1-3D86-429D-B3B0-296522FC9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106" y="1051940"/>
            <a:ext cx="5163584" cy="4532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777632"/>
            <a:ext cx="9758082" cy="117538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Lexend" panose="020B0604020202020204" charset="0"/>
              </a:rPr>
              <a:t>Model Training</a:t>
            </a:r>
            <a:br>
              <a:rPr lang="en-US" b="1" dirty="0"/>
            </a:br>
            <a:endParaRPr lang="en-GB" altLang="en-US" sz="4000" dirty="0"/>
          </a:p>
        </p:txBody>
      </p:sp>
      <p:sp>
        <p:nvSpPr>
          <p:cNvPr id="2" name="Text Box 1"/>
          <p:cNvSpPr txBox="1"/>
          <p:nvPr/>
        </p:nvSpPr>
        <p:spPr>
          <a:xfrm>
            <a:off x="5629835" y="991198"/>
            <a:ext cx="4231341" cy="620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F1706-2535-48FE-BBFD-E301055AE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060"/>
            <a:ext cx="5643282" cy="456490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Trained 8 models: LR, RF, SVM, </a:t>
            </a:r>
            <a:r>
              <a:rPr lang="en-US" sz="2400" dirty="0" err="1">
                <a:latin typeface="Lexend" panose="020B0604020202020204" charset="0"/>
              </a:rPr>
              <a:t>XGBoost</a:t>
            </a:r>
            <a:r>
              <a:rPr lang="en-US" sz="2400" dirty="0">
                <a:latin typeface="Lexend" panose="020B0604020202020204" charset="0"/>
              </a:rPr>
              <a:t>, </a:t>
            </a:r>
            <a:r>
              <a:rPr lang="en-US" sz="2400" dirty="0" err="1">
                <a:latin typeface="Lexend" panose="020B0604020202020204" charset="0"/>
              </a:rPr>
              <a:t>LightGBM</a:t>
            </a:r>
            <a:r>
              <a:rPr lang="en-US" sz="2400" dirty="0">
                <a:latin typeface="Lexend" panose="020B0604020202020204" charset="0"/>
              </a:rPr>
              <a:t>, </a:t>
            </a:r>
            <a:r>
              <a:rPr lang="en-US" sz="2400" dirty="0" err="1">
                <a:latin typeface="Lexend" panose="020B0604020202020204" charset="0"/>
              </a:rPr>
              <a:t>CatBoost</a:t>
            </a:r>
            <a:r>
              <a:rPr lang="en-US" sz="2400" dirty="0">
                <a:latin typeface="Lexend" panose="020B0604020202020204" charset="0"/>
              </a:rPr>
              <a:t>, ANN, Voting Ensemble</a:t>
            </a:r>
          </a:p>
          <a:p>
            <a:endParaRPr lang="en-US" sz="2400" dirty="0">
              <a:latin typeface="Lexend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Hyperparameter tuning via </a:t>
            </a:r>
            <a:r>
              <a:rPr lang="en-US" sz="2400" dirty="0" err="1">
                <a:latin typeface="Lexend" panose="020B0604020202020204" charset="0"/>
              </a:rPr>
              <a:t>GridSearchCV</a:t>
            </a:r>
            <a:r>
              <a:rPr lang="en-US" sz="2400" dirty="0">
                <a:latin typeface="Lexend" panose="020B0604020202020204" charset="0"/>
              </a:rPr>
              <a:t> with 10-fold CV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88E035-1343-4549-A4C6-D1D419794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30852"/>
            <a:ext cx="5755655" cy="38806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8B5F-AABD-4733-9B36-EF3E286E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30306"/>
            <a:ext cx="4422494" cy="1627094"/>
          </a:xfrm>
        </p:spPr>
        <p:txBody>
          <a:bodyPr/>
          <a:lstStyle/>
          <a:p>
            <a:r>
              <a:rPr lang="en-US" sz="2400" b="1" dirty="0">
                <a:latin typeface="Lexend" panose="020B0604020202020204" charset="0"/>
              </a:rPr>
              <a:t>Hybrid Ensemble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99D39-8DD3-4AE9-8F3D-D638B44EC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Weighted voting: NN (40%), SVM (35%), </a:t>
            </a:r>
            <a:r>
              <a:rPr lang="en-US" sz="2400" dirty="0" err="1">
                <a:latin typeface="Lexend" panose="020B0604020202020204" charset="0"/>
              </a:rPr>
              <a:t>XGBoost</a:t>
            </a:r>
            <a:r>
              <a:rPr lang="en-US" sz="2400" dirty="0">
                <a:latin typeface="Lexend" panose="020B0604020202020204" charset="0"/>
              </a:rPr>
              <a:t> (25%)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</a:rPr>
              <a:t>Combined for robust, generalizable predictions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9A58AE-BCD7-4EBD-89C7-41A7B8BFB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868" y="730865"/>
            <a:ext cx="6145215" cy="466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85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906" y="1111623"/>
            <a:ext cx="9060815" cy="860612"/>
          </a:xfrm>
        </p:spPr>
        <p:txBody>
          <a:bodyPr>
            <a:normAutofit fontScale="90000"/>
          </a:bodyPr>
          <a:lstStyle/>
          <a:p>
            <a:r>
              <a:rPr lang="en-GB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Results, Analysis, and Discussion</a:t>
            </a:r>
            <a:br>
              <a:rPr lang="en-GB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</a:br>
            <a:br>
              <a:rPr lang="en-GB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</a:b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AC6983-0712-422C-AFD1-4D4547478C45}"/>
              </a:ext>
            </a:extLst>
          </p:cNvPr>
          <p:cNvSpPr txBox="1">
            <a:spLocks/>
          </p:cNvSpPr>
          <p:nvPr/>
        </p:nvSpPr>
        <p:spPr>
          <a:xfrm rot="10800000" flipV="1">
            <a:off x="576390" y="1541929"/>
            <a:ext cx="3552042" cy="5422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GB" sz="2400" b="1" dirty="0">
                <a:solidFill>
                  <a:srgbClr val="FF0000"/>
                </a:solidFill>
                <a:latin typeface="Lexend" panose="020B060402020202020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</a:br>
            <a:r>
              <a:rPr lang="en-US" sz="2400" b="1" dirty="0">
                <a:solidFill>
                  <a:srgbClr val="FF0000"/>
                </a:solidFill>
                <a:latin typeface="Lexend" panose="020B0604020202020204" charset="0"/>
              </a:rPr>
              <a:t>Performance Overview</a:t>
            </a:r>
          </a:p>
          <a:p>
            <a:pPr algn="ctr"/>
            <a:endParaRPr lang="en-US" sz="2400" b="1" dirty="0">
              <a:solidFill>
                <a:srgbClr val="FF0000"/>
              </a:solidFill>
              <a:latin typeface="Lexend" panose="020B060402020202020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D386FB-7298-4E0B-818E-E521C5F06753}"/>
              </a:ext>
            </a:extLst>
          </p:cNvPr>
          <p:cNvSpPr/>
          <p:nvPr/>
        </p:nvSpPr>
        <p:spPr>
          <a:xfrm>
            <a:off x="576389" y="2402541"/>
            <a:ext cx="515015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exend" panose="020B0604020202020204" charset="0"/>
              </a:rPr>
              <a:t>Key metrics table: Accuracy, Precision, Recall, F1-Score, AUC</a:t>
            </a:r>
          </a:p>
          <a:p>
            <a:endParaRPr 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exend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exend" panose="020B0604020202020204" charset="0"/>
              </a:rPr>
              <a:t>Highlight: 99.15% Accuracy, AUC = 0.9979</a:t>
            </a:r>
            <a:endParaRPr lang="en-US" sz="2400" i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exend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A5FE7-EA25-4CC0-AE31-EE154727C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055" y="1541929"/>
            <a:ext cx="5868219" cy="3189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AC6983-0712-422C-AFD1-4D4547478C45}"/>
              </a:ext>
            </a:extLst>
          </p:cNvPr>
          <p:cNvSpPr txBox="1">
            <a:spLocks/>
          </p:cNvSpPr>
          <p:nvPr/>
        </p:nvSpPr>
        <p:spPr>
          <a:xfrm>
            <a:off x="645906" y="826380"/>
            <a:ext cx="9037752" cy="4482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Lexend" panose="020B0604020202020204" charset="0"/>
              </a:rPr>
              <a:t>Model Accuracy Comparison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EC37CA-8152-4225-8C98-3E2EF4F7F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198" y="1861397"/>
            <a:ext cx="6426798" cy="361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39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755" y="-398780"/>
            <a:ext cx="7416165" cy="16002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Lexend" panose="020B0604020202020204" charset="0"/>
                <a:cs typeface="Lexend" panose="020B0604020202020204" charset="0"/>
              </a:rPr>
              <a:t>ROC Curve Analysis</a:t>
            </a:r>
            <a:br>
              <a:rPr lang="en-US" sz="2400" b="1" dirty="0">
                <a:solidFill>
                  <a:srgbClr val="FF0000"/>
                </a:solidFill>
                <a:latin typeface="Lexend" panose="020B0604020202020204" charset="0"/>
                <a:cs typeface="Lexend" panose="020B0604020202020204" charset="0"/>
              </a:rPr>
            </a:br>
            <a:endParaRPr lang="en-GB" altLang="en-US" sz="2400" dirty="0">
              <a:solidFill>
                <a:srgbClr val="FF0000"/>
              </a:solidFill>
              <a:latin typeface="Lexend" panose="020B0604020202020204" charset="0"/>
              <a:ea typeface="Tahoma" panose="020B0604030504040204" pitchFamily="34" charset="0"/>
              <a:cs typeface="Lexend" panose="020B060402020202020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1DC9A4-57C5-4C04-B52E-E05B313AB2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5636" y="2106412"/>
            <a:ext cx="6230471" cy="1703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Lexend" panose="020B0604020202020204" charset="0"/>
                <a:cs typeface="Lexend" panose="020B0604020202020204" charset="0"/>
              </a:rPr>
              <a:t>ROC curves for top models</a:t>
            </a:r>
          </a:p>
          <a:p>
            <a:r>
              <a:rPr lang="en-US" sz="2400" dirty="0">
                <a:latin typeface="Lexend" panose="020B0604020202020204" charset="0"/>
                <a:cs typeface="Lexend" panose="020B0604020202020204" charset="0"/>
              </a:rPr>
              <a:t>Highlight: </a:t>
            </a:r>
            <a:r>
              <a:rPr lang="en-US" sz="2400" b="1" dirty="0">
                <a:latin typeface="Lexend" panose="020B0604020202020204" charset="0"/>
                <a:cs typeface="Lexend" panose="020B0604020202020204" charset="0"/>
              </a:rPr>
              <a:t>Ensemble AUC = 0.9979</a:t>
            </a:r>
            <a:r>
              <a:rPr lang="en-US" sz="2400" dirty="0">
                <a:latin typeface="Lexend" panose="020B0604020202020204" charset="0"/>
                <a:cs typeface="Lexend" panose="020B0604020202020204" charset="0"/>
              </a:rPr>
              <a:t> (best class separation)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exend" panose="020B0604020202020204" charset="0"/>
              <a:ea typeface="Tahoma" panose="020B0604030504040204" pitchFamily="34" charset="0"/>
              <a:cs typeface="Lexend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C9456B-D784-47FD-A864-66E2A3F67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21" y="1351921"/>
            <a:ext cx="5016185" cy="41541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755" y="-398780"/>
            <a:ext cx="7416165" cy="1600200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Lexend" panose="020B0604020202020204" charset="0"/>
                <a:cs typeface="Lexend" panose="020B0604020202020204" charset="0"/>
              </a:rPr>
              <a:t>Explainability</a:t>
            </a:r>
            <a:r>
              <a:rPr lang="en-US" sz="2400" b="1" dirty="0">
                <a:solidFill>
                  <a:srgbClr val="FF0000"/>
                </a:solidFill>
                <a:latin typeface="Lexend" panose="020B0604020202020204" charset="0"/>
                <a:cs typeface="Lexend" panose="020B0604020202020204" charset="0"/>
              </a:rPr>
              <a:t> – SHAP Insights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9E8F474-859D-4D93-9274-7B1EA4581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92169"/>
            <a:ext cx="556708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A198AE0E-00DC-4C88-A3C9-C183BBD02C6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139139" y="2495971"/>
            <a:ext cx="4900459" cy="1282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3 features: </a:t>
            </a:r>
            <a:r>
              <a:rPr lang="en-US" b="1" dirty="0"/>
              <a:t>Age, Glucose, BMI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SHAP summary plot shows feature impact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ECCF0B-D0FF-4A67-8306-C9AA63506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26" y="1806183"/>
            <a:ext cx="6184913" cy="3054751"/>
          </a:xfrm>
        </p:spPr>
      </p:pic>
    </p:spTree>
    <p:extLst>
      <p:ext uri="{BB962C8B-B14F-4D97-AF65-F5344CB8AC3E}">
        <p14:creationId xmlns:p14="http://schemas.microsoft.com/office/powerpoint/2010/main" val="4143297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852" y="-472814"/>
            <a:ext cx="9045575" cy="16002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Lexend" panose="020B0604020202020204" charset="0"/>
                <a:cs typeface="Lexend" panose="020B0604020202020204" charset="0"/>
              </a:rPr>
              <a:t>Confusion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6116D1-F012-412C-BE78-0F823B54A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53" y="1588152"/>
            <a:ext cx="3821324" cy="3904258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488FBBB9-F0A4-455C-BB77-3B1F0CC7C1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3188" y="1577577"/>
            <a:ext cx="688330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high correct predictions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1423 + 2290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3713 correct out of 3745 total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error rates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Only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17 false alarms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(FP) . Only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 missed risk cases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detection is strong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model correctly identifies most risky cases . Very few risky cases are missed (important for safety/finance/health use cases)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Performs well on both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classes .No strong bias toward one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852" y="-472814"/>
            <a:ext cx="9045575" cy="16002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Lexend" panose="020B0604020202020204" charset="0"/>
                <a:cs typeface="Lexend" panose="020B0604020202020204" charset="0"/>
              </a:rPr>
              <a:t>Comparison with Prior 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5CF585-BB7B-4696-9748-A28FE9ABC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096" y="1283484"/>
            <a:ext cx="6651811" cy="45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010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05" y="425117"/>
            <a:ext cx="3931920" cy="677545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Lexend" panose="020B0604020202020204" charset="0"/>
                <a:cs typeface="Lexend" panose="020B0604020202020204" charset="0"/>
              </a:rPr>
              <a:t>Discussion</a:t>
            </a:r>
            <a:br>
              <a:rPr lang="en-US" sz="2400" b="1" dirty="0">
                <a:solidFill>
                  <a:srgbClr val="FF0000"/>
                </a:solidFill>
                <a:latin typeface="Lexend" panose="020B0604020202020204" charset="0"/>
                <a:cs typeface="Lexend" panose="020B0604020202020204" charset="0"/>
              </a:rPr>
            </a:br>
            <a:endParaRPr lang="en-US" sz="2400" dirty="0">
              <a:solidFill>
                <a:srgbClr val="FF0000"/>
              </a:solidFill>
              <a:latin typeface="Lexend" panose="020B0604020202020204" charset="0"/>
              <a:ea typeface="Tahoma" panose="020B0604030504040204" pitchFamily="34" charset="0"/>
              <a:cs typeface="Lexend" panose="020B060402020202020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4791" y="1480819"/>
            <a:ext cx="4467001" cy="2792505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Lexend" panose="020B0604020202020204" charset="0"/>
                <a:cs typeface="Lexend" panose="020B0604020202020204" charset="0"/>
              </a:rPr>
              <a:t>Hybrid ensemble = stability + accuracy</a:t>
            </a:r>
          </a:p>
          <a:p>
            <a:endParaRPr lang="en-US" sz="2800" dirty="0">
              <a:latin typeface="Lexend" panose="020B0604020202020204" charset="0"/>
              <a:cs typeface="Lexend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Lexend" panose="020B0604020202020204" charset="0"/>
                <a:cs typeface="Lexend" panose="020B0604020202020204" charset="0"/>
              </a:rPr>
              <a:t>XAI = trust + clinical adoption</a:t>
            </a:r>
          </a:p>
          <a:p>
            <a:endParaRPr lang="en-US" sz="2800" dirty="0">
              <a:latin typeface="Lexend" panose="020B0604020202020204" charset="0"/>
              <a:cs typeface="Lexend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Lexend" panose="020B0604020202020204" charset="0"/>
                <a:cs typeface="Lexend" panose="020B0604020202020204" charset="0"/>
              </a:rPr>
              <a:t>Real-time dashboard = practical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3200" dirty="0">
              <a:latin typeface="Lexend" panose="020B0604020202020204" charset="0"/>
              <a:ea typeface="Tahoma" panose="020B0604030504040204" pitchFamily="34" charset="0"/>
              <a:cs typeface="Lexend" panose="020B060402020202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708025" y="2327910"/>
            <a:ext cx="3931920" cy="6775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74791" y="4273324"/>
            <a:ext cx="3931920" cy="6775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Placeholder 3"/>
          <p:cNvSpPr>
            <a:spLocks noGrp="1"/>
          </p:cNvSpPr>
          <p:nvPr/>
        </p:nvSpPr>
        <p:spPr>
          <a:xfrm>
            <a:off x="708025" y="3053398"/>
            <a:ext cx="8324215" cy="1598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Placeholder 3"/>
          <p:cNvSpPr>
            <a:spLocks noGrp="1"/>
          </p:cNvSpPr>
          <p:nvPr/>
        </p:nvSpPr>
        <p:spPr>
          <a:xfrm>
            <a:off x="708024" y="5046755"/>
            <a:ext cx="8324215" cy="1598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4C547-630E-423C-9342-A4F97507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688" y="930746"/>
            <a:ext cx="5692369" cy="42453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105" y="425117"/>
            <a:ext cx="3931920" cy="677545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Lexend" panose="020B0604020202020204" charset="0"/>
                <a:cs typeface="Lexend" panose="020B0604020202020204" charset="0"/>
              </a:rPr>
              <a:t>Limitations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56744" y="1561259"/>
            <a:ext cx="7499633" cy="279250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  <a:cs typeface="Lexend" panose="020B0604020202020204" charset="0"/>
              </a:rPr>
              <a:t>Clean data only (no real-world noise)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Lexend" panose="020B0604020202020204" charset="0"/>
              <a:cs typeface="Lexen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  <a:cs typeface="Lexend" panose="020B0604020202020204" charset="0"/>
              </a:rPr>
              <a:t>No external validation yet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Lexend" panose="020B0604020202020204" charset="0"/>
              <a:cs typeface="Lexen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Lexend" panose="020B0604020202020204" charset="0"/>
                <a:cs typeface="Lexend" panose="020B0604020202020204" charset="0"/>
              </a:rPr>
              <a:t>Future: test on noisy/multi-hospital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4400" dirty="0">
              <a:latin typeface="Lexend" panose="020B0604020202020204" charset="0"/>
              <a:ea typeface="Tahoma" panose="020B0604030504040204" pitchFamily="34" charset="0"/>
              <a:cs typeface="Lexend" panose="020B060402020202020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708025" y="2327910"/>
            <a:ext cx="3931920" cy="6775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GB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774791" y="4273324"/>
            <a:ext cx="3931920" cy="6775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Aft>
                <a:spcPts val="600"/>
              </a:spcAft>
            </a:pP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Placeholder 3"/>
          <p:cNvSpPr>
            <a:spLocks noGrp="1"/>
          </p:cNvSpPr>
          <p:nvPr/>
        </p:nvSpPr>
        <p:spPr>
          <a:xfrm>
            <a:off x="708025" y="3053398"/>
            <a:ext cx="8324215" cy="1598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Placeholder 3"/>
          <p:cNvSpPr>
            <a:spLocks noGrp="1"/>
          </p:cNvSpPr>
          <p:nvPr/>
        </p:nvSpPr>
        <p:spPr>
          <a:xfrm>
            <a:off x="708024" y="5046755"/>
            <a:ext cx="8324215" cy="1598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956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553" y="347578"/>
            <a:ext cx="3931920" cy="107378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Yeseva One" panose="020B0604020202020204"/>
              </a:rPr>
              <a:t>Conclusion</a:t>
            </a:r>
            <a:endParaRPr lang="en-GB" alt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34365" y="3246504"/>
            <a:ext cx="3931920" cy="10737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altLang="en-US" sz="4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Placeholder 3"/>
          <p:cNvSpPr>
            <a:spLocks noGrp="1"/>
          </p:cNvSpPr>
          <p:nvPr/>
        </p:nvSpPr>
        <p:spPr>
          <a:xfrm>
            <a:off x="1624460" y="9481856"/>
            <a:ext cx="7395210" cy="2738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17A4F07-1192-4C77-8DFB-7EA1A7FA70B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40553" y="1666185"/>
            <a:ext cx="9889931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Developed </a:t>
            </a:r>
            <a:r>
              <a:rPr lang="en-US" sz="2000" b="1" dirty="0" err="1">
                <a:latin typeface="Lexend" panose="020B0604020202020204" charset="0"/>
                <a:cs typeface="Lexend" panose="020B0604020202020204" charset="0"/>
              </a:rPr>
              <a:t>StrokeGuardian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– a hybrid ensemble model combining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NN, SVM, and </a:t>
            </a:r>
            <a:r>
              <a:rPr lang="en-US" sz="2000" b="1" dirty="0" err="1">
                <a:latin typeface="Lexend" panose="020B0604020202020204" charset="0"/>
                <a:cs typeface="Lexend" panose="020B0604020202020204" charset="0"/>
              </a:rPr>
              <a:t>XGBoost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for real-time stroke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Lexend" panose="020B0604020202020204" charset="0"/>
              <a:cs typeface="Lexen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Achieved 99.15% accuracy &amp; 0.9979 AUC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– outperforming existing state-of-the-art models</a:t>
            </a:r>
          </a:p>
          <a:p>
            <a:endParaRPr lang="en-US" sz="2000" dirty="0">
              <a:latin typeface="Lexend" panose="020B0604020202020204" charset="0"/>
              <a:cs typeface="Lexen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Integrated Explainable AI (SHAP &amp; LIME)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– providing transparent, clinically interpretable insights</a:t>
            </a:r>
          </a:p>
          <a:p>
            <a:endParaRPr lang="en-US" sz="2000" dirty="0">
              <a:latin typeface="Lexend" panose="020B0604020202020204" charset="0"/>
              <a:cs typeface="Lexen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Built and deployed a cloud-based clinical dashboard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– enabling real-time risk assessment in healthcare settings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E1FDD9A-5347-4A5F-A565-D46C573FE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574" y="4809932"/>
            <a:ext cx="7744409" cy="866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455070" y="0"/>
            <a:ext cx="3931920" cy="10737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+mn-ea"/>
              </a:rPr>
              <a:t>Future Works</a:t>
            </a:r>
            <a:endParaRPr lang="en-GB" alt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Placeholder 3"/>
          <p:cNvSpPr>
            <a:spLocks noGrp="1"/>
          </p:cNvSpPr>
          <p:nvPr/>
        </p:nvSpPr>
        <p:spPr>
          <a:xfrm>
            <a:off x="1624460" y="9481856"/>
            <a:ext cx="7395210" cy="2738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E1FDD9A-5347-4A5F-A565-D46C573FE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812" y="1118943"/>
            <a:ext cx="1020183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Real-World Validation</a:t>
            </a:r>
            <a:endParaRPr lang="en-US" sz="2000" dirty="0">
              <a:latin typeface="Lexend" panose="020B0604020202020204" charset="0"/>
              <a:cs typeface="Lexend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Test on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noisy, incomplete clinical data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from multiple hospitals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Conduct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external validation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across diverse populations and healthcare systems</a:t>
            </a:r>
          </a:p>
          <a:p>
            <a:pPr marL="342900" indent="-342900">
              <a:buFont typeface="+mj-lt"/>
              <a:buAutoNum type="arabicPeriod"/>
            </a:pPr>
            <a:endParaRPr lang="en-US" sz="2000" b="1" dirty="0">
              <a:latin typeface="Lexend" panose="020B0604020202020204" charset="0"/>
              <a:cs typeface="Lexend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Multimodal Data Integration</a:t>
            </a:r>
            <a:endParaRPr lang="en-US" sz="2000" dirty="0">
              <a:latin typeface="Lexend" panose="020B0604020202020204" charset="0"/>
              <a:cs typeface="Lexend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Incorporate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EEG, MRI, and wearable sensor data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for richer patient profiling</a:t>
            </a:r>
          </a:p>
          <a:p>
            <a:pPr lvl="1"/>
            <a:endParaRPr lang="en-US" sz="2000" dirty="0">
              <a:latin typeface="Lexend" panose="020B0604020202020204" charset="0"/>
              <a:cs typeface="Lexend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Federated Learning Implementation</a:t>
            </a:r>
            <a:endParaRPr lang="en-US" sz="2000" dirty="0">
              <a:latin typeface="Lexend" panose="020B0604020202020204" charset="0"/>
              <a:cs typeface="Lexend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Enable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privacy-preserving, distributed model training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across institutions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Support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collaborative AI without sharing sensitive patient data</a:t>
            </a:r>
          </a:p>
          <a:p>
            <a:pPr lvl="1"/>
            <a:endParaRPr lang="en-US" sz="2000" dirty="0">
              <a:latin typeface="Lexend" panose="020B0604020202020204" charset="0"/>
              <a:cs typeface="Lexend" panose="020B06040202020202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Enhanced Clinical Integration</a:t>
            </a:r>
            <a:endParaRPr lang="en-US" sz="2000" dirty="0">
              <a:latin typeface="Lexend" panose="020B0604020202020204" charset="0"/>
              <a:cs typeface="Lexend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Develop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mobile and EHR-integrated versions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for seamless clinician 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Add </a:t>
            </a:r>
            <a:r>
              <a:rPr lang="en-US" sz="2000" b="1" dirty="0">
                <a:latin typeface="Lexend" panose="020B0604020202020204" charset="0"/>
                <a:cs typeface="Lexend" panose="020B0604020202020204" charset="0"/>
              </a:rPr>
              <a:t>real-time alerting and recommendation systems</a:t>
            </a:r>
            <a:r>
              <a:rPr lang="en-US" sz="2000" dirty="0">
                <a:latin typeface="Lexend" panose="020B0604020202020204" charset="0"/>
                <a:cs typeface="Lexend" panose="020B0604020202020204" charset="0"/>
              </a:rPr>
              <a:t> for urgent cases</a:t>
            </a:r>
          </a:p>
        </p:txBody>
      </p:sp>
    </p:spTree>
    <p:extLst>
      <p:ext uri="{BB962C8B-B14F-4D97-AF65-F5344CB8AC3E}">
        <p14:creationId xmlns:p14="http://schemas.microsoft.com/office/powerpoint/2010/main" val="4271864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562647" y="646739"/>
            <a:ext cx="3931920" cy="10737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altLang="en-US" sz="4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Placeholder 3"/>
          <p:cNvSpPr>
            <a:spLocks noGrp="1"/>
          </p:cNvSpPr>
          <p:nvPr/>
        </p:nvSpPr>
        <p:spPr>
          <a:xfrm>
            <a:off x="1624460" y="9481856"/>
            <a:ext cx="7395210" cy="2738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F09040-3023-4136-9771-E82779D96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252" y="1416703"/>
            <a:ext cx="48482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95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875</Words>
  <Application>Microsoft Office PowerPoint</Application>
  <PresentationFormat>Widescreen</PresentationFormat>
  <Paragraphs>126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Tahoma</vt:lpstr>
      <vt:lpstr>Yeseva One</vt:lpstr>
      <vt:lpstr>Calibri Light</vt:lpstr>
      <vt:lpstr>Calibri</vt:lpstr>
      <vt:lpstr>Times New Roman</vt:lpstr>
      <vt:lpstr>Josefin Sans Medium</vt:lpstr>
      <vt:lpstr>Lexend</vt:lpstr>
      <vt:lpstr>Arial</vt:lpstr>
      <vt:lpstr>Office Theme</vt:lpstr>
      <vt:lpstr>PowerPoint Presentation</vt:lpstr>
      <vt:lpstr>PowerPoint Presentation</vt:lpstr>
      <vt:lpstr>Introduction</vt:lpstr>
      <vt:lpstr>Related Works</vt:lpstr>
      <vt:lpstr>Problem Statement</vt:lpstr>
      <vt:lpstr>Objectives</vt:lpstr>
      <vt:lpstr>Methodology</vt:lpstr>
      <vt:lpstr>Feature Engineering</vt:lpstr>
      <vt:lpstr>Model Training </vt:lpstr>
      <vt:lpstr>Hybrid Ensemble </vt:lpstr>
      <vt:lpstr>Results, Analysis, and Discussion  </vt:lpstr>
      <vt:lpstr>PowerPoint Presentation</vt:lpstr>
      <vt:lpstr>ROC Curve Analysis </vt:lpstr>
      <vt:lpstr>Explainability – SHAP Insights</vt:lpstr>
      <vt:lpstr>Confusion Matrix</vt:lpstr>
      <vt:lpstr>Comparison with Prior Works</vt:lpstr>
      <vt:lpstr>Discussion </vt:lpstr>
      <vt:lpstr>Limitations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0424062530 - Angkon Deb</dc:creator>
  <cp:lastModifiedBy>Pacific BD</cp:lastModifiedBy>
  <cp:revision>92</cp:revision>
  <dcterms:created xsi:type="dcterms:W3CDTF">2025-12-08T19:03:00Z</dcterms:created>
  <dcterms:modified xsi:type="dcterms:W3CDTF">2025-12-19T18:12:58Z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D239D9E7475941E8BBABDB304E2DAA57_11</vt:lpwstr>
  </property>
  <property fmtid="{D5CDD505-2E9C-101B-9397-08002B2CF9AE}" pid="3" name="KSOProductBuildVer">
    <vt:lpwstr>2057-12.2.0.23155</vt:lpwstr>
  </property>
</Properties>
</file>