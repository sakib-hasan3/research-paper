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6" r:id="rId2"/>
    <p:sldId id="257" r:id="rId3"/>
    <p:sldId id="258" r:id="rId4"/>
    <p:sldId id="272" r:id="rId5"/>
    <p:sldId id="276" r:id="rId6"/>
    <p:sldId id="281" r:id="rId7"/>
    <p:sldId id="284" r:id="rId8"/>
    <p:sldId id="259" r:id="rId9"/>
    <p:sldId id="273" r:id="rId10"/>
    <p:sldId id="285" r:id="rId11"/>
    <p:sldId id="286" r:id="rId12"/>
    <p:sldId id="287" r:id="rId13"/>
    <p:sldId id="288" r:id="rId14"/>
    <p:sldId id="289" r:id="rId15"/>
    <p:sldId id="290" r:id="rId16"/>
    <p:sldId id="291"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56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033" autoAdjust="0"/>
  </p:normalViewPr>
  <p:slideViewPr>
    <p:cSldViewPr snapToGrid="0">
      <p:cViewPr varScale="1">
        <p:scale>
          <a:sx n="85" d="100"/>
          <a:sy n="85" d="100"/>
        </p:scale>
        <p:origin x="547"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562A55-30A4-58D0-49BE-701B33EE76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69CCED-8267-6214-DB1E-EF52EA4B2B3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A8615E-AE85-4B0E-8A8E-B643D3D73380}" type="datetimeFigureOut">
              <a:rPr lang="en-US" smtClean="0"/>
              <a:t>11/23/2025</a:t>
            </a:fld>
            <a:endParaRPr lang="en-US"/>
          </a:p>
        </p:txBody>
      </p:sp>
      <p:sp>
        <p:nvSpPr>
          <p:cNvPr id="4" name="Footer Placeholder 3">
            <a:extLst>
              <a:ext uri="{FF2B5EF4-FFF2-40B4-BE49-F238E27FC236}">
                <a16:creationId xmlns:a16="http://schemas.microsoft.com/office/drawing/2014/main" id="{DC0A48F1-F60F-1369-27B3-F9624FD210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err="1"/>
              <a:t>fghgfhfghgf</a:t>
            </a:r>
            <a:endParaRPr lang="en-US" dirty="0"/>
          </a:p>
        </p:txBody>
      </p:sp>
      <p:sp>
        <p:nvSpPr>
          <p:cNvPr id="5" name="Slide Number Placeholder 4">
            <a:extLst>
              <a:ext uri="{FF2B5EF4-FFF2-40B4-BE49-F238E27FC236}">
                <a16:creationId xmlns:a16="http://schemas.microsoft.com/office/drawing/2014/main" id="{C26CECB0-78AB-D04E-69F0-B03DF93DCA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639D6D-D80C-47F3-B83F-483F859568FF}" type="slidenum">
              <a:rPr lang="en-US" smtClean="0"/>
              <a:t>‹#›</a:t>
            </a:fld>
            <a:endParaRPr lang="en-US"/>
          </a:p>
        </p:txBody>
      </p:sp>
    </p:spTree>
    <p:extLst>
      <p:ext uri="{BB962C8B-B14F-4D97-AF65-F5344CB8AC3E}">
        <p14:creationId xmlns:p14="http://schemas.microsoft.com/office/powerpoint/2010/main" val="1200467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385B0B-8FB3-43FB-8738-ACE338F3089B}"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203DD7-E2F3-4266-B81E-18D166AABF0B}" type="slidenum">
              <a:rPr lang="en-US" smtClean="0"/>
              <a:t>‹#›</a:t>
            </a:fld>
            <a:endParaRPr lang="en-US"/>
          </a:p>
        </p:txBody>
      </p:sp>
    </p:spTree>
    <p:extLst>
      <p:ext uri="{BB962C8B-B14F-4D97-AF65-F5344CB8AC3E}">
        <p14:creationId xmlns:p14="http://schemas.microsoft.com/office/powerpoint/2010/main" val="2965488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0203DD7-E2F3-4266-B81E-18D166AABF0B}" type="slidenum">
              <a:rPr lang="en-US" smtClean="0"/>
              <a:t>1</a:t>
            </a:fld>
            <a:endParaRPr lang="en-US"/>
          </a:p>
        </p:txBody>
      </p:sp>
    </p:spTree>
    <p:extLst>
      <p:ext uri="{BB962C8B-B14F-4D97-AF65-F5344CB8AC3E}">
        <p14:creationId xmlns:p14="http://schemas.microsoft.com/office/powerpoint/2010/main" val="2018721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203DD7-E2F3-4266-B81E-18D166AABF0B}" type="slidenum">
              <a:rPr lang="en-US" smtClean="0"/>
              <a:t>2</a:t>
            </a:fld>
            <a:endParaRPr lang="en-US"/>
          </a:p>
        </p:txBody>
      </p:sp>
    </p:spTree>
    <p:extLst>
      <p:ext uri="{BB962C8B-B14F-4D97-AF65-F5344CB8AC3E}">
        <p14:creationId xmlns:p14="http://schemas.microsoft.com/office/powerpoint/2010/main" val="3094455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523867" y="1286009"/>
            <a:ext cx="9144000" cy="1655762"/>
          </a:xfrm>
        </p:spPr>
        <p:txBody>
          <a:bodyPr>
            <a:noAutofit/>
          </a:bodyPr>
          <a:lstStyle>
            <a:lvl1pPr marL="0" indent="0" algn="ctr">
              <a:spcBef>
                <a:spcPts val="600"/>
              </a:spcBef>
              <a:spcAft>
                <a:spcPts val="1200"/>
              </a:spcAft>
              <a:buNone/>
              <a:defRPr sz="2500">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spcBef>
                <a:spcPts val="1200"/>
              </a:spcBef>
              <a:spcAft>
                <a:spcPts val="1200"/>
              </a:spcAft>
            </a:pPr>
            <a:r>
              <a:rPr lang="it-IT" sz="2400" dirty="0"/>
              <a:t>Paper Title</a:t>
            </a:r>
          </a:p>
          <a:p>
            <a:pPr algn="ctr">
              <a:spcBef>
                <a:spcPts val="1200"/>
              </a:spcBef>
              <a:spcAft>
                <a:spcPts val="1200"/>
              </a:spcAft>
            </a:pPr>
            <a:r>
              <a:rPr lang="it-IT" sz="2400" dirty="0"/>
              <a:t>Author’s Name</a:t>
            </a:r>
          </a:p>
          <a:p>
            <a:pPr algn="ctr">
              <a:spcBef>
                <a:spcPts val="1200"/>
              </a:spcBef>
              <a:spcAft>
                <a:spcPts val="1200"/>
              </a:spcAft>
            </a:pPr>
            <a:r>
              <a:rPr lang="it-IT" sz="2400" dirty="0"/>
              <a:t>Author’s Affiliation’s</a:t>
            </a:r>
          </a:p>
        </p:txBody>
      </p:sp>
      <p:sp>
        <p:nvSpPr>
          <p:cNvPr id="4" name="Date Placeholder 3"/>
          <p:cNvSpPr>
            <a:spLocks noGrp="1"/>
          </p:cNvSpPr>
          <p:nvPr>
            <p:ph type="dt" sz="half" idx="10"/>
          </p:nvPr>
        </p:nvSpPr>
        <p:spPr>
          <a:xfrm>
            <a:off x="341616" y="6356350"/>
            <a:ext cx="1413294"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1B4643BA-8FC9-40DC-A39B-0DE56AFB2301}" type="datetime1">
              <a:rPr lang="en-US" smtClean="0"/>
              <a:t>11/23/2025</a:t>
            </a:fld>
            <a:endParaRPr lang="en-US" dirty="0"/>
          </a:p>
        </p:txBody>
      </p:sp>
      <p:sp>
        <p:nvSpPr>
          <p:cNvPr id="5" name="Footer Placeholder 4"/>
          <p:cNvSpPr>
            <a:spLocks noGrp="1"/>
          </p:cNvSpPr>
          <p:nvPr>
            <p:ph type="ftr" sz="quarter" idx="11"/>
          </p:nvPr>
        </p:nvSpPr>
        <p:spPr>
          <a:xfrm>
            <a:off x="2152073" y="6356349"/>
            <a:ext cx="8645235" cy="365125"/>
          </a:xfrm>
          <a:prstGeom prst="rect">
            <a:avLst/>
          </a:prstGeom>
        </p:spPr>
        <p:txBody>
          <a:bodyPr/>
          <a:lstStyle>
            <a:lvl1pPr>
              <a:defRPr lang="en-US" sz="1200" b="1" i="0" cap="all" smtClean="0">
                <a:effectLst/>
              </a:defRPr>
            </a:lvl1pPr>
          </a:lstStyle>
          <a:p>
            <a:r>
              <a:rPr lang="en-US"/>
              <a:t>IEEE International Conference on Robotics, Automation, Artificial-Intelligence and Internet-of-Things 2025</a:t>
            </a:r>
            <a:endParaRPr lang="en-US" b="1" dirty="0"/>
          </a:p>
        </p:txBody>
      </p:sp>
      <p:sp>
        <p:nvSpPr>
          <p:cNvPr id="6" name="Slide Number Placeholder 5"/>
          <p:cNvSpPr>
            <a:spLocks noGrp="1"/>
          </p:cNvSpPr>
          <p:nvPr>
            <p:ph type="sldNum" sz="quarter" idx="12"/>
          </p:nvPr>
        </p:nvSpPr>
        <p:spPr>
          <a:xfrm>
            <a:off x="11193339" y="6356350"/>
            <a:ext cx="657045"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467E6174-F508-4684-B91E-FB2DFBEFD211}" type="slidenum">
              <a:rPr lang="en-US" smtClean="0"/>
              <a:pPr/>
              <a:t>‹#›</a:t>
            </a:fld>
            <a:endParaRPr lang="en-US" dirty="0"/>
          </a:p>
        </p:txBody>
      </p:sp>
    </p:spTree>
    <p:extLst>
      <p:ext uri="{BB962C8B-B14F-4D97-AF65-F5344CB8AC3E}">
        <p14:creationId xmlns:p14="http://schemas.microsoft.com/office/powerpoint/2010/main" val="2439508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84863" y="374328"/>
            <a:ext cx="9868937" cy="1067386"/>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1484862" y="1614279"/>
            <a:ext cx="9868937"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3"/>
          <p:cNvSpPr>
            <a:spLocks noGrp="1"/>
          </p:cNvSpPr>
          <p:nvPr>
            <p:ph type="dt" sz="half" idx="10"/>
          </p:nvPr>
        </p:nvSpPr>
        <p:spPr>
          <a:xfrm>
            <a:off x="838201" y="6356350"/>
            <a:ext cx="1125157"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3715DCC4-A502-4219-B463-6A05BA33E7C6}" type="datetime1">
              <a:rPr lang="en-US" smtClean="0"/>
              <a:t>11/23/2025</a:t>
            </a:fld>
            <a:endParaRPr lang="en-US" dirty="0"/>
          </a:p>
        </p:txBody>
      </p:sp>
      <p:sp>
        <p:nvSpPr>
          <p:cNvPr id="19" name="Slide Number Placeholder 5"/>
          <p:cNvSpPr>
            <a:spLocks noGrp="1"/>
          </p:cNvSpPr>
          <p:nvPr>
            <p:ph type="sldNum" sz="quarter" idx="12"/>
          </p:nvPr>
        </p:nvSpPr>
        <p:spPr>
          <a:xfrm>
            <a:off x="10696754" y="6356350"/>
            <a:ext cx="657045"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467E6174-F508-4684-B91E-FB2DFBEFD211}" type="slidenum">
              <a:rPr lang="en-US" smtClean="0"/>
              <a:pPr/>
              <a:t>‹#›</a:t>
            </a:fld>
            <a:endParaRPr lang="en-US" dirty="0"/>
          </a:p>
        </p:txBody>
      </p:sp>
      <p:sp>
        <p:nvSpPr>
          <p:cNvPr id="9" name="Footer Placeholder 4">
            <a:extLst>
              <a:ext uri="{FF2B5EF4-FFF2-40B4-BE49-F238E27FC236}">
                <a16:creationId xmlns:a16="http://schemas.microsoft.com/office/drawing/2014/main" id="{154193F5-B8CD-4B01-9041-3D80CB6CE8C0}"/>
              </a:ext>
            </a:extLst>
          </p:cNvPr>
          <p:cNvSpPr>
            <a:spLocks noGrp="1"/>
          </p:cNvSpPr>
          <p:nvPr>
            <p:ph type="ftr" sz="quarter" idx="11"/>
          </p:nvPr>
        </p:nvSpPr>
        <p:spPr>
          <a:xfrm>
            <a:off x="2237258" y="6348845"/>
            <a:ext cx="8185595" cy="365125"/>
          </a:xfrm>
        </p:spPr>
        <p:txBody>
          <a:bodyPr/>
          <a:lstStyle>
            <a:lvl1pPr>
              <a:defRPr lang="en-US" b="0" i="0" cap="all" smtClean="0">
                <a:effectLst/>
              </a:defRPr>
            </a:lvl1pPr>
          </a:lstStyle>
          <a:p>
            <a:r>
              <a:rPr lang="en-US"/>
              <a:t>IEEE International Conference on Robotics, Automation, Artificial-Intelligence and Internet-of-Things 2025</a:t>
            </a:r>
            <a:endParaRPr lang="en-US" dirty="0"/>
          </a:p>
        </p:txBody>
      </p:sp>
    </p:spTree>
    <p:extLst>
      <p:ext uri="{BB962C8B-B14F-4D97-AF65-F5344CB8AC3E}">
        <p14:creationId xmlns:p14="http://schemas.microsoft.com/office/powerpoint/2010/main" val="2531267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3747" y="6356349"/>
            <a:ext cx="114047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E7F4CA-8DDD-49E4-9470-0F010B297F03}" type="datetime1">
              <a:rPr lang="en-US" smtClean="0"/>
              <a:t>11/23/2025</a:t>
            </a:fld>
            <a:endParaRPr lang="en-US"/>
          </a:p>
        </p:txBody>
      </p:sp>
      <p:sp>
        <p:nvSpPr>
          <p:cNvPr id="6" name="Slide Number Placeholder 5"/>
          <p:cNvSpPr>
            <a:spLocks noGrp="1"/>
          </p:cNvSpPr>
          <p:nvPr>
            <p:ph type="sldNum" sz="quarter" idx="4"/>
          </p:nvPr>
        </p:nvSpPr>
        <p:spPr>
          <a:xfrm>
            <a:off x="10696754" y="6356350"/>
            <a:ext cx="65704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7E6174-F508-4684-B91E-FB2DFBEFD211}" type="slidenum">
              <a:rPr lang="en-US" smtClean="0"/>
              <a:t>‹#›</a:t>
            </a:fld>
            <a:endParaRPr lang="en-US"/>
          </a:p>
        </p:txBody>
      </p:sp>
      <p:sp>
        <p:nvSpPr>
          <p:cNvPr id="7" name="Footer Placeholder 4">
            <a:extLst>
              <a:ext uri="{FF2B5EF4-FFF2-40B4-BE49-F238E27FC236}">
                <a16:creationId xmlns:a16="http://schemas.microsoft.com/office/drawing/2014/main" id="{D62BAFAE-64E5-40F9-0F89-850DF6898CBA}"/>
              </a:ext>
            </a:extLst>
          </p:cNvPr>
          <p:cNvSpPr>
            <a:spLocks noGrp="1"/>
          </p:cNvSpPr>
          <p:nvPr>
            <p:ph type="ftr" sz="quarter" idx="3"/>
          </p:nvPr>
        </p:nvSpPr>
        <p:spPr>
          <a:xfrm>
            <a:off x="2197689" y="6356348"/>
            <a:ext cx="8185595" cy="365125"/>
          </a:xfrm>
          <a:prstGeom prst="rect">
            <a:avLst/>
          </a:prstGeom>
        </p:spPr>
        <p:txBody>
          <a:bodyPr/>
          <a:lstStyle>
            <a:lvl1pPr>
              <a:defRPr lang="en-US" b="0" i="0" cap="all" smtClean="0">
                <a:effectLst/>
              </a:defRPr>
            </a:lvl1pPr>
          </a:lstStyle>
          <a:p>
            <a:r>
              <a:rPr lang="en-US"/>
              <a:t>IEEE International Conference on Robotics, Automation, Artificial-Intelligence and Internet-of-Things 2025</a:t>
            </a:r>
            <a:endParaRPr lang="en-US" dirty="0"/>
          </a:p>
        </p:txBody>
      </p:sp>
      <p:grpSp>
        <p:nvGrpSpPr>
          <p:cNvPr id="5" name="Group 4">
            <a:extLst>
              <a:ext uri="{FF2B5EF4-FFF2-40B4-BE49-F238E27FC236}">
                <a16:creationId xmlns:a16="http://schemas.microsoft.com/office/drawing/2014/main" id="{E400EB5B-1FF7-3BDB-4A18-0CE1E5A1E248}"/>
              </a:ext>
            </a:extLst>
          </p:cNvPr>
          <p:cNvGrpSpPr/>
          <p:nvPr userDrawn="1"/>
        </p:nvGrpSpPr>
        <p:grpSpPr>
          <a:xfrm>
            <a:off x="75127" y="64655"/>
            <a:ext cx="11976913" cy="954955"/>
            <a:chOff x="0" y="0"/>
            <a:chExt cx="11976913" cy="1008176"/>
          </a:xfrm>
        </p:grpSpPr>
        <p:grpSp>
          <p:nvGrpSpPr>
            <p:cNvPr id="8" name="Group 7">
              <a:extLst>
                <a:ext uri="{FF2B5EF4-FFF2-40B4-BE49-F238E27FC236}">
                  <a16:creationId xmlns:a16="http://schemas.microsoft.com/office/drawing/2014/main" id="{45CAD650-44EB-BBD0-EFE2-488DC6B341C3}"/>
                </a:ext>
              </a:extLst>
            </p:cNvPr>
            <p:cNvGrpSpPr/>
            <p:nvPr userDrawn="1"/>
          </p:nvGrpSpPr>
          <p:grpSpPr>
            <a:xfrm>
              <a:off x="0" y="0"/>
              <a:ext cx="3291630" cy="900141"/>
              <a:chOff x="-36946" y="-85282"/>
              <a:chExt cx="3291630" cy="900141"/>
            </a:xfrm>
          </p:grpSpPr>
          <p:pic>
            <p:nvPicPr>
              <p:cNvPr id="10" name="Picture 9">
                <a:extLst>
                  <a:ext uri="{FF2B5EF4-FFF2-40B4-BE49-F238E27FC236}">
                    <a16:creationId xmlns:a16="http://schemas.microsoft.com/office/drawing/2014/main" id="{BA4CB6FD-716A-461E-0D84-294FBFD3CC4D}"/>
                  </a:ext>
                </a:extLst>
              </p:cNvPr>
              <p:cNvPicPr>
                <a:picLocks noChangeAspect="1"/>
              </p:cNvPicPr>
              <p:nvPr userDrawn="1"/>
            </p:nvPicPr>
            <p:blipFill>
              <a:blip r:embed="rId4">
                <a:extLst>
                  <a:ext uri="{28A0092B-C50C-407E-A947-70E740481C1C}">
                    <a14:useLocalDpi xmlns:a14="http://schemas.microsoft.com/office/drawing/2010/main" val="0"/>
                  </a:ext>
                </a:extLst>
              </a:blip>
              <a:srcRect t="17115" b="10416"/>
              <a:stretch>
                <a:fillRect/>
              </a:stretch>
            </p:blipFill>
            <p:spPr>
              <a:xfrm>
                <a:off x="-36946" y="-85281"/>
                <a:ext cx="1458109" cy="900140"/>
              </a:xfrm>
              <a:prstGeom prst="rect">
                <a:avLst/>
              </a:prstGeom>
            </p:spPr>
          </p:pic>
          <p:pic>
            <p:nvPicPr>
              <p:cNvPr id="11" name="Picture 10">
                <a:extLst>
                  <a:ext uri="{FF2B5EF4-FFF2-40B4-BE49-F238E27FC236}">
                    <a16:creationId xmlns:a16="http://schemas.microsoft.com/office/drawing/2014/main" id="{FDFB01BD-88D6-0F04-B0DD-F25AC2C45DD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540613" y="-85282"/>
                <a:ext cx="1714071" cy="900140"/>
              </a:xfrm>
              <a:prstGeom prst="rect">
                <a:avLst/>
              </a:prstGeom>
            </p:spPr>
          </p:pic>
        </p:grpSp>
        <p:pic>
          <p:nvPicPr>
            <p:cNvPr id="9" name="Picture 4" descr="Patuakhali Science and Technology University - Wikipedia">
              <a:extLst>
                <a:ext uri="{FF2B5EF4-FFF2-40B4-BE49-F238E27FC236}">
                  <a16:creationId xmlns:a16="http://schemas.microsoft.com/office/drawing/2014/main" id="{708DB318-1769-4F63-2218-8F75EF42E044}"/>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l="16943" t="11583" r="11865" b="13270"/>
            <a:stretch>
              <a:fillRect/>
            </a:stretch>
          </p:blipFill>
          <p:spPr bwMode="auto">
            <a:xfrm>
              <a:off x="11039188" y="18356"/>
              <a:ext cx="937725" cy="9898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471587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2"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2"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2"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2"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2"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2"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2"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2"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ug2102032@cse.pstu.ac.b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asellaDiTesto 23">
            <a:extLst>
              <a:ext uri="{FF2B5EF4-FFF2-40B4-BE49-F238E27FC236}">
                <a16:creationId xmlns:a16="http://schemas.microsoft.com/office/drawing/2014/main" id="{C35823FA-A994-4D44-B743-67B2F2BBB469}"/>
              </a:ext>
            </a:extLst>
          </p:cNvPr>
          <p:cNvSpPr txBox="1"/>
          <p:nvPr/>
        </p:nvSpPr>
        <p:spPr>
          <a:xfrm>
            <a:off x="702906" y="1049246"/>
            <a:ext cx="10636898" cy="5355312"/>
          </a:xfrm>
          <a:prstGeom prst="rect">
            <a:avLst/>
          </a:prstGeom>
          <a:noFill/>
        </p:spPr>
        <p:txBody>
          <a:bodyPr wrap="square" rtlCol="0">
            <a:spAutoFit/>
          </a:bodyPr>
          <a:lstStyle/>
          <a:p>
            <a:pPr algn="ctr"/>
            <a:r>
              <a:rPr lang="en-US" sz="2400" b="1" dirty="0"/>
              <a:t>SafeRide: A Real-Time IoT-Based Smart Helmet</a:t>
            </a:r>
          </a:p>
          <a:p>
            <a:pPr algn="ctr"/>
            <a:r>
              <a:rPr lang="en-US" sz="2400" b="1" dirty="0"/>
              <a:t>with Road-Condition Intelligence</a:t>
            </a:r>
          </a:p>
          <a:p>
            <a:pPr algn="ctr"/>
            <a:endParaRPr lang="en-US" sz="2400" b="1"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endParaRP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Present by</a:t>
            </a: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Abdul </a:t>
            </a:r>
            <a:r>
              <a:rPr lang="en-US" dirty="0" err="1">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Jobayer</a:t>
            </a:r>
            <a:endPar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endParaRP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Faculty of Computer Science and Engineering </a:t>
            </a: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Patuakhali Science and Technology University </a:t>
            </a: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Patuakhali-8602, Bangladesh </a:t>
            </a: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hlinkClick r:id="rId3"/>
              </a:rPr>
              <a:t>ug2102008@cse.pstu.ac.bd</a:t>
            </a:r>
            <a:endPar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endParaRPr>
          </a:p>
          <a:p>
            <a:pPr algn="ctr"/>
            <a:endPar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endParaRPr>
          </a:p>
          <a:p>
            <a:pPr algn="ctr"/>
            <a:endPar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endParaRPr>
          </a:p>
          <a:p>
            <a:pPr algn="ctr"/>
            <a:r>
              <a:rPr lang="en-US" b="1"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Authors</a:t>
            </a:r>
          </a:p>
          <a:p>
            <a:pPr algn="ct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Mohammed Sakib Hasan</a:t>
            </a:r>
          </a:p>
          <a:p>
            <a:pPr algn="ctr"/>
            <a:r>
              <a:rPr lang="en-US" dirty="0" err="1">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Jihadul</a:t>
            </a: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 Islam</a:t>
            </a:r>
            <a:b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b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Md. Abdul </a:t>
            </a:r>
            <a:r>
              <a:rPr lang="en-US" dirty="0" err="1">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Jobayer</a:t>
            </a:r>
            <a:b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b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Md. Abdur Rakib</a:t>
            </a:r>
            <a:b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b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Md. </a:t>
            </a:r>
            <a:r>
              <a:rPr lang="en-US" dirty="0" err="1">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Mohidul</a:t>
            </a: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 </a:t>
            </a:r>
            <a:r>
              <a:rPr lang="en-US" dirty="0" err="1">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Alam</a:t>
            </a:r>
            <a:b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b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Md. </a:t>
            </a:r>
            <a:r>
              <a:rPr lang="en-US" dirty="0" err="1">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Mahbubur</a:t>
            </a:r>
            <a:r>
              <a:rPr lang="en-US" dirty="0">
                <a:solidFill>
                  <a:schemeClr val="tx1">
                    <a:lumMod val="95000"/>
                    <a:lumOff val="5000"/>
                  </a:schemeClr>
                </a:solidFill>
                <a:latin typeface="Times New Roman" panose="02020603050405020304" pitchFamily="18" charset="0"/>
                <a:ea typeface="SimSun" panose="02010600030101010101" pitchFamily="2" charset="-122"/>
                <a:cs typeface="Times New Roman" panose="02020603050405020304" pitchFamily="18" charset="0"/>
              </a:rPr>
              <a:t> Rahman</a:t>
            </a:r>
          </a:p>
        </p:txBody>
      </p:sp>
    </p:spTree>
    <p:extLst>
      <p:ext uri="{BB962C8B-B14F-4D97-AF65-F5344CB8AC3E}">
        <p14:creationId xmlns:p14="http://schemas.microsoft.com/office/powerpoint/2010/main" val="340652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8284" y="903803"/>
            <a:ext cx="2155431" cy="474501"/>
          </a:xfrm>
        </p:spPr>
        <p:txBody>
          <a:bodyPr>
            <a:noAutofit/>
          </a:bodyPr>
          <a:lstStyle/>
          <a:p>
            <a:pPr algn="ctr"/>
            <a:r>
              <a:rPr lang="en-US" sz="3600" b="1" dirty="0">
                <a:solidFill>
                  <a:schemeClr val="accent1">
                    <a:lumMod val="50000"/>
                  </a:schemeClr>
                </a:solidFill>
              </a:rPr>
              <a:t>Abstract</a:t>
            </a:r>
          </a:p>
        </p:txBody>
      </p:sp>
      <p:sp>
        <p:nvSpPr>
          <p:cNvPr id="5" name="Slide Number Placeholder 4"/>
          <p:cNvSpPr>
            <a:spLocks noGrp="1"/>
          </p:cNvSpPr>
          <p:nvPr>
            <p:ph type="sldNum" sz="quarter" idx="12"/>
          </p:nvPr>
        </p:nvSpPr>
        <p:spPr>
          <a:xfrm>
            <a:off x="9263512" y="6316747"/>
            <a:ext cx="2743200" cy="365125"/>
          </a:xfrm>
        </p:spPr>
        <p:txBody>
          <a:bodyPr/>
          <a:lstStyle/>
          <a:p>
            <a:fld id="{467E6174-F508-4684-B91E-FB2DFBEFD211}" type="slidenum">
              <a:rPr lang="en-US" smtClean="0"/>
              <a:t>2</a:t>
            </a:fld>
            <a:endParaRPr lang="en-US"/>
          </a:p>
        </p:txBody>
      </p:sp>
      <p:sp>
        <p:nvSpPr>
          <p:cNvPr id="6" name="Footer Placeholder 5">
            <a:extLst>
              <a:ext uri="{FF2B5EF4-FFF2-40B4-BE49-F238E27FC236}">
                <a16:creationId xmlns:a16="http://schemas.microsoft.com/office/drawing/2014/main" id="{3047E99B-63A2-75E9-68FF-DE30AA49B67A}"/>
              </a:ext>
            </a:extLst>
          </p:cNvPr>
          <p:cNvSpPr>
            <a:spLocks noGrp="1"/>
          </p:cNvSpPr>
          <p:nvPr>
            <p:ph type="ftr" sz="quarter" idx="11"/>
          </p:nvPr>
        </p:nvSpPr>
        <p:spPr>
          <a:xfrm>
            <a:off x="130627" y="6499310"/>
            <a:ext cx="11405089" cy="365124"/>
          </a:xfrm>
          <a:prstGeom prst="rect">
            <a:avLst/>
          </a:prstGeom>
        </p:spPr>
        <p:txBody>
          <a:bodyPr/>
          <a:lstStyle/>
          <a:p>
            <a:r>
              <a:rPr lang="en-US" sz="1400" b="1" dirty="0">
                <a:solidFill>
                  <a:srgbClr val="0070C0"/>
                </a:solidFill>
              </a:rPr>
              <a:t>IEEE International Conference on Robotics, Automation, Artificial-Intelligence and Internet-of-Things 2025</a:t>
            </a:r>
          </a:p>
        </p:txBody>
      </p:sp>
      <p:sp>
        <p:nvSpPr>
          <p:cNvPr id="8" name="TextBox 7">
            <a:extLst>
              <a:ext uri="{FF2B5EF4-FFF2-40B4-BE49-F238E27FC236}">
                <a16:creationId xmlns:a16="http://schemas.microsoft.com/office/drawing/2014/main" id="{0807EE3F-DB9C-6EDD-FBBE-9B14C7BCBC1E}"/>
              </a:ext>
            </a:extLst>
          </p:cNvPr>
          <p:cNvSpPr txBox="1"/>
          <p:nvPr/>
        </p:nvSpPr>
        <p:spPr>
          <a:xfrm>
            <a:off x="690466" y="1679510"/>
            <a:ext cx="10845250" cy="3970318"/>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Motorcycle riders are among the most vulnerable road users, often facing a high risk of accidents and fatalities.</a:t>
            </a:r>
          </a:p>
          <a:p>
            <a:pPr algn="just"/>
            <a:r>
              <a:rPr lang="en-US" dirty="0">
                <a:latin typeface="Times New Roman" panose="02020603050405020304" pitchFamily="18" charset="0"/>
                <a:cs typeface="Times New Roman" panose="02020603050405020304" pitchFamily="18" charset="0"/>
              </a:rPr>
              <a:t>These risks arise from unsafe riding habits, poor road conditions, and delays in emergency response. Many existing smart helmet systems focus on single features such as alcohol detection or accident alerts, but lack a complete and scalable solution. To address these issues, this paper proposes a low-cost, </a:t>
            </a:r>
            <a:r>
              <a:rPr lang="en-US" dirty="0" err="1">
                <a:latin typeface="Times New Roman" panose="02020603050405020304" pitchFamily="18" charset="0"/>
                <a:cs typeface="Times New Roman" panose="02020603050405020304" pitchFamily="18" charset="0"/>
              </a:rPr>
              <a:t>realtime</a:t>
            </a:r>
            <a:r>
              <a:rPr lang="en-US" dirty="0">
                <a:latin typeface="Times New Roman" panose="02020603050405020304" pitchFamily="18" charset="0"/>
                <a:cs typeface="Times New Roman" panose="02020603050405020304" pitchFamily="18" charset="0"/>
              </a:rPr>
              <a:t> IoT-enabled smart helmet system that combines multiple safety and awareness features into one framework. The system integrates helmet-wear detection, alcohol monitoring, drowsiness detection, rear-vehicle proximity alerts, accident and emergency</a:t>
            </a:r>
          </a:p>
          <a:p>
            <a:pPr algn="just"/>
            <a:r>
              <a:rPr lang="en-US" dirty="0">
                <a:latin typeface="Times New Roman" panose="02020603050405020304" pitchFamily="18" charset="0"/>
                <a:cs typeface="Times New Roman" panose="02020603050405020304" pitchFamily="18" charset="0"/>
              </a:rPr>
              <a:t>notifications, and weather-based warnings. A new road-condition prediction model using machine learning is introduced, which classifies upcoming roads as excellent, good, poor, or very poor based on GPS data. The helmet and motorcycle units are synchronized to control ignition and share data in real-time, while hazard information is uploaded to Firebase for community alerts. A smartphone application provides riders with live sensor data, navigation, and voice-based notifications to reduce distractions. Additionally, the SafeRide dataset of road conditions has been developed to support large-scale road-quality prediction across Bangladesh. Experimental results show that the proposed system is effective in improving rider safety and enabling intelligent transportation solutions.</a:t>
            </a:r>
          </a:p>
        </p:txBody>
      </p:sp>
    </p:spTree>
    <p:extLst>
      <p:ext uri="{BB962C8B-B14F-4D97-AF65-F5344CB8AC3E}">
        <p14:creationId xmlns:p14="http://schemas.microsoft.com/office/powerpoint/2010/main" val="3326247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86C16E-4517-40C0-9B46-36F47D6490C5}"/>
              </a:ext>
            </a:extLst>
          </p:cNvPr>
          <p:cNvSpPr>
            <a:spLocks noGrp="1"/>
          </p:cNvSpPr>
          <p:nvPr>
            <p:ph type="title"/>
          </p:nvPr>
        </p:nvSpPr>
        <p:spPr>
          <a:xfrm>
            <a:off x="1484862" y="982841"/>
            <a:ext cx="9247414" cy="549331"/>
          </a:xfrm>
        </p:spPr>
        <p:txBody>
          <a:bodyPr anchor="ctr">
            <a:normAutofit fontScale="90000"/>
          </a:bodyPr>
          <a:lstStyle/>
          <a:p>
            <a:r>
              <a:rPr lang="en-US" b="1" dirty="0"/>
              <a:t>                         </a:t>
            </a:r>
            <a:r>
              <a:rPr lang="en-US" sz="4000" b="1" dirty="0">
                <a:solidFill>
                  <a:schemeClr val="accent1">
                    <a:lumMod val="50000"/>
                  </a:schemeClr>
                </a:solidFill>
              </a:rPr>
              <a:t>Introduction</a:t>
            </a:r>
          </a:p>
        </p:txBody>
      </p:sp>
      <p:sp>
        <p:nvSpPr>
          <p:cNvPr id="5" name="Slide Number Placeholder 4"/>
          <p:cNvSpPr>
            <a:spLocks noGrp="1"/>
          </p:cNvSpPr>
          <p:nvPr>
            <p:ph type="sldNum" sz="quarter" idx="12"/>
          </p:nvPr>
        </p:nvSpPr>
        <p:spPr>
          <a:xfrm>
            <a:off x="10696754" y="6356350"/>
            <a:ext cx="657045" cy="365125"/>
          </a:xfrm>
        </p:spPr>
        <p:txBody>
          <a:bodyPr anchor="ctr">
            <a:normAutofit/>
          </a:bodyPr>
          <a:lstStyle/>
          <a:p>
            <a:pPr>
              <a:spcAft>
                <a:spcPts val="600"/>
              </a:spcAft>
            </a:pPr>
            <a:fld id="{467E6174-F508-4684-B91E-FB2DFBEFD211}" type="slidenum">
              <a:rPr lang="en-US" smtClean="0"/>
              <a:pPr>
                <a:spcAft>
                  <a:spcPts val="600"/>
                </a:spcAft>
              </a:pPr>
              <a:t>3</a:t>
            </a:fld>
            <a:endParaRPr lang="en-US"/>
          </a:p>
        </p:txBody>
      </p:sp>
      <p:sp>
        <p:nvSpPr>
          <p:cNvPr id="2" name="Footer Placeholder 5">
            <a:extLst>
              <a:ext uri="{FF2B5EF4-FFF2-40B4-BE49-F238E27FC236}">
                <a16:creationId xmlns:a16="http://schemas.microsoft.com/office/drawing/2014/main" id="{85988D64-B2CC-C8D4-2D32-C3CB25ACEDFB}"/>
              </a:ext>
            </a:extLst>
          </p:cNvPr>
          <p:cNvSpPr>
            <a:spLocks noGrp="1"/>
          </p:cNvSpPr>
          <p:nvPr>
            <p:ph type="ftr" sz="quarter" idx="11"/>
          </p:nvPr>
        </p:nvSpPr>
        <p:spPr>
          <a:xfrm>
            <a:off x="335901" y="6356350"/>
            <a:ext cx="9605957" cy="365125"/>
          </a:xfrm>
        </p:spPr>
        <p:txBody>
          <a:bodyPr>
            <a:noAutofit/>
          </a:bodyPr>
          <a:lstStyle/>
          <a:p>
            <a:r>
              <a:rPr lang="en-US" sz="1400" b="1" dirty="0">
                <a:solidFill>
                  <a:srgbClr val="0070C0"/>
                </a:solidFill>
              </a:rPr>
              <a:t>IEEE International Conference on Robotics, Automation, Artificial-Intelligence and Internet-of-Things 2025</a:t>
            </a:r>
          </a:p>
        </p:txBody>
      </p:sp>
      <p:pic>
        <p:nvPicPr>
          <p:cNvPr id="4" name="Picture 3">
            <a:extLst>
              <a:ext uri="{FF2B5EF4-FFF2-40B4-BE49-F238E27FC236}">
                <a16:creationId xmlns:a16="http://schemas.microsoft.com/office/drawing/2014/main" id="{CF28A48D-9188-44FD-9A17-D058C84E4E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59722" y="1836094"/>
            <a:ext cx="2613966" cy="3485288"/>
          </a:xfrm>
          <a:prstGeom prst="rect">
            <a:avLst/>
          </a:prstGeom>
          <a:noFill/>
        </p:spPr>
      </p:pic>
      <p:sp>
        <p:nvSpPr>
          <p:cNvPr id="20" name="TextBox 19">
            <a:extLst>
              <a:ext uri="{FF2B5EF4-FFF2-40B4-BE49-F238E27FC236}">
                <a16:creationId xmlns:a16="http://schemas.microsoft.com/office/drawing/2014/main" id="{C6AB1131-B62A-613E-85AD-52D633D55D2B}"/>
              </a:ext>
            </a:extLst>
          </p:cNvPr>
          <p:cNvSpPr txBox="1"/>
          <p:nvPr/>
        </p:nvSpPr>
        <p:spPr>
          <a:xfrm>
            <a:off x="705786" y="1836094"/>
            <a:ext cx="7445828" cy="2956387"/>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SafeRide is a real-time IoT-based smart helmet designed to enhance motorcycle safety. It integrates sensors for helmet use, alcohol and drowsiness detection, accident alerts, and road-condition prediction using machine learning. The system connects with a smartphone app and cloud to deliver live monitoring and emergency notifications, helping riders stay alert and protected. By combining multiple safety features in one platform, SafeRide promotes smarter and safer transportation.</a:t>
            </a:r>
          </a:p>
        </p:txBody>
      </p:sp>
    </p:spTree>
    <p:extLst>
      <p:ext uri="{BB962C8B-B14F-4D97-AF65-F5344CB8AC3E}">
        <p14:creationId xmlns:p14="http://schemas.microsoft.com/office/powerpoint/2010/main" val="772835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98CC-00AD-425A-B7F8-268F495F8FA4}"/>
              </a:ext>
            </a:extLst>
          </p:cNvPr>
          <p:cNvSpPr>
            <a:spLocks noGrp="1"/>
          </p:cNvSpPr>
          <p:nvPr>
            <p:ph type="title"/>
          </p:nvPr>
        </p:nvSpPr>
        <p:spPr>
          <a:xfrm>
            <a:off x="2283062" y="546893"/>
            <a:ext cx="9868937" cy="1067386"/>
          </a:xfrm>
        </p:spPr>
        <p:txBody>
          <a:bodyPr anchor="ctr">
            <a:normAutofit/>
          </a:bodyPr>
          <a:lstStyle/>
          <a:p>
            <a:r>
              <a:rPr lang="en-US" sz="4000" b="1" dirty="0"/>
              <a:t>           </a:t>
            </a:r>
            <a:r>
              <a:rPr lang="en-US" sz="3600" b="1" dirty="0">
                <a:solidFill>
                  <a:schemeClr val="accent1">
                    <a:lumMod val="50000"/>
                  </a:schemeClr>
                </a:solidFill>
              </a:rPr>
              <a:t>Problem Statement</a:t>
            </a:r>
            <a:endParaRPr lang="en-US" sz="3600" dirty="0">
              <a:solidFill>
                <a:schemeClr val="accent1">
                  <a:lumMod val="50000"/>
                </a:schemeClr>
              </a:solidFill>
            </a:endParaRPr>
          </a:p>
        </p:txBody>
      </p:sp>
      <p:sp>
        <p:nvSpPr>
          <p:cNvPr id="7" name="TextBox 6">
            <a:extLst>
              <a:ext uri="{FF2B5EF4-FFF2-40B4-BE49-F238E27FC236}">
                <a16:creationId xmlns:a16="http://schemas.microsoft.com/office/drawing/2014/main" id="{6A24F99D-06D0-8F4D-3CD6-DF9B3C4D64BB}"/>
              </a:ext>
            </a:extLst>
          </p:cNvPr>
          <p:cNvSpPr txBox="1"/>
          <p:nvPr/>
        </p:nvSpPr>
        <p:spPr>
          <a:xfrm>
            <a:off x="4578893" y="1614279"/>
            <a:ext cx="6774905" cy="4351338"/>
          </a:xfrm>
          <a:prstGeom prst="rect">
            <a:avLst/>
          </a:prstGeom>
        </p:spPr>
        <p:txBody>
          <a:bodyPr vert="horz" lIns="91440" tIns="45720" rIns="91440" bIns="45720" rtlCol="0">
            <a:normAutofit/>
          </a:bodyPr>
          <a:lstStyle/>
          <a:p>
            <a:pPr>
              <a:lnSpc>
                <a:spcPct val="90000"/>
              </a:lnSpc>
              <a:spcBef>
                <a:spcPts val="1000"/>
              </a:spcBef>
            </a:pPr>
            <a:r>
              <a:rPr lang="en-US" sz="2400" b="1" kern="1200" dirty="0">
                <a:effectLst/>
              </a:rPr>
              <a:t>Current </a:t>
            </a:r>
            <a:r>
              <a:rPr lang="en-US" sz="2400" b="1" dirty="0"/>
              <a:t>Smart Helmet Systems</a:t>
            </a:r>
            <a:r>
              <a:rPr lang="en-US" sz="2400" b="1" kern="1200" dirty="0">
                <a:effectLst/>
              </a:rPr>
              <a:t>:  </a:t>
            </a:r>
          </a:p>
          <a:p>
            <a:pPr marL="342900" indent="-342900">
              <a:lnSpc>
                <a:spcPct val="90000"/>
              </a:lnSpc>
              <a:spcBef>
                <a:spcPts val="10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Motorcycle riders are highly vulnerable to accidents due to unsafe riding, fatigue, alcohol use, and poor road conditions</a:t>
            </a:r>
            <a:r>
              <a:rPr lang="en-US" sz="2400" dirty="0">
                <a:latin typeface="Times New Roman" panose="02020603050405020304" pitchFamily="18" charset="0"/>
                <a:cs typeface="Times New Roman" panose="02020603050405020304" pitchFamily="18" charset="0"/>
              </a:rPr>
              <a:t>.</a:t>
            </a:r>
          </a:p>
          <a:p>
            <a:pPr marL="342900" indent="-342900">
              <a:lnSpc>
                <a:spcPct val="90000"/>
              </a:lnSpc>
              <a:spcBef>
                <a:spcPts val="10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existing smart helmets focus on only one feature, such as alcohol detection or accident alerts.</a:t>
            </a:r>
          </a:p>
          <a:p>
            <a:pPr marL="342900" indent="-342900">
              <a:lnSpc>
                <a:spcPct val="90000"/>
              </a:lnSpc>
              <a:spcBef>
                <a:spcPts val="10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no complete, real-time system that integrates all key safety functions.</a:t>
            </a:r>
          </a:p>
          <a:p>
            <a:pPr marL="342900" indent="-342900">
              <a:lnSpc>
                <a:spcPct val="90000"/>
              </a:lnSpc>
              <a:spcBef>
                <a:spcPts val="10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Delayed emergency response often increases the severity of injuries and fatalities.</a:t>
            </a:r>
          </a:p>
          <a:p>
            <a:pPr marL="342900" indent="-342900">
              <a:lnSpc>
                <a:spcPct val="90000"/>
              </a:lnSpc>
              <a:spcBef>
                <a:spcPts val="10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low-cost IoT-based smart helmet is needed to combine multi-sensor safety, monitoring, and intelligent alerts to enhance rider protection.</a:t>
            </a:r>
            <a:endParaRPr lang="en-US" b="1" kern="1200" dirty="0">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4B1CF3B-B446-45DC-9256-F72F6DF0A8FF}"/>
              </a:ext>
            </a:extLst>
          </p:cNvPr>
          <p:cNvSpPr>
            <a:spLocks noGrp="1"/>
          </p:cNvSpPr>
          <p:nvPr>
            <p:ph type="sldNum" sz="quarter" idx="12"/>
          </p:nvPr>
        </p:nvSpPr>
        <p:spPr>
          <a:xfrm>
            <a:off x="10696754" y="6356350"/>
            <a:ext cx="657045" cy="365125"/>
          </a:xfrm>
        </p:spPr>
        <p:txBody>
          <a:bodyPr vert="horz" lIns="91440" tIns="45720" rIns="91440" bIns="45720" rtlCol="0" anchor="ctr">
            <a:normAutofit/>
          </a:bodyPr>
          <a:lstStyle/>
          <a:p>
            <a:pPr>
              <a:spcAft>
                <a:spcPts val="600"/>
              </a:spcAft>
            </a:pPr>
            <a:fld id="{467E6174-F508-4684-B91E-FB2DFBEFD211}" type="slidenum">
              <a:rPr lang="en-US" smtClean="0"/>
              <a:pPr>
                <a:spcAft>
                  <a:spcPts val="600"/>
                </a:spcAft>
              </a:pPr>
              <a:t>4</a:t>
            </a:fld>
            <a:endParaRPr lang="en-US"/>
          </a:p>
        </p:txBody>
      </p:sp>
      <p:sp>
        <p:nvSpPr>
          <p:cNvPr id="13" name="Footer Placeholder 5">
            <a:extLst>
              <a:ext uri="{FF2B5EF4-FFF2-40B4-BE49-F238E27FC236}">
                <a16:creationId xmlns:a16="http://schemas.microsoft.com/office/drawing/2014/main" id="{FF212117-44E1-C26B-B992-8B16CD72541E}"/>
              </a:ext>
            </a:extLst>
          </p:cNvPr>
          <p:cNvSpPr>
            <a:spLocks noGrp="1"/>
          </p:cNvSpPr>
          <p:nvPr>
            <p:ph type="ftr" sz="quarter" idx="11"/>
          </p:nvPr>
        </p:nvSpPr>
        <p:spPr>
          <a:xfrm>
            <a:off x="312833" y="6356350"/>
            <a:ext cx="10120997" cy="365125"/>
          </a:xfrm>
        </p:spPr>
        <p:txBody>
          <a:bodyPr>
            <a:noAutofit/>
          </a:bodyPr>
          <a:lstStyle/>
          <a:p>
            <a:pPr>
              <a:lnSpc>
                <a:spcPct val="90000"/>
              </a:lnSpc>
              <a:spcAft>
                <a:spcPts val="600"/>
              </a:spcAft>
            </a:pPr>
            <a:r>
              <a:rPr lang="en-US" sz="1400" b="1" i="0" kern="1200" cap="all" dirty="0">
                <a:solidFill>
                  <a:schemeClr val="accent1">
                    <a:lumMod val="50000"/>
                  </a:schemeClr>
                </a:solidFill>
                <a:effectLst/>
                <a:latin typeface="+mn-lt"/>
                <a:ea typeface="+mn-ea"/>
                <a:cs typeface="+mn-cs"/>
              </a:rPr>
              <a:t>IEEE International Conference on Robotics, Automation, Artificial-Intelligence and Internet-</a:t>
            </a:r>
            <a:r>
              <a:rPr lang="en-US" sz="1400" b="1" i="0" kern="1200" cap="all" dirty="0" err="1">
                <a:solidFill>
                  <a:schemeClr val="accent1">
                    <a:lumMod val="50000"/>
                  </a:schemeClr>
                </a:solidFill>
                <a:effectLst/>
                <a:latin typeface="+mn-lt"/>
                <a:ea typeface="+mn-ea"/>
                <a:cs typeface="+mn-cs"/>
              </a:rPr>
              <a:t>oF</a:t>
            </a:r>
            <a:r>
              <a:rPr lang="en-US" sz="1400" b="1" i="0" kern="1200" cap="all" dirty="0">
                <a:solidFill>
                  <a:schemeClr val="accent1">
                    <a:lumMod val="50000"/>
                  </a:schemeClr>
                </a:solidFill>
                <a:effectLst/>
                <a:latin typeface="+mn-lt"/>
                <a:ea typeface="+mn-ea"/>
                <a:cs typeface="+mn-cs"/>
              </a:rPr>
              <a:t>-Things 2025</a:t>
            </a:r>
          </a:p>
        </p:txBody>
      </p:sp>
      <p:pic>
        <p:nvPicPr>
          <p:cNvPr id="9" name="Picture 8">
            <a:extLst>
              <a:ext uri="{FF2B5EF4-FFF2-40B4-BE49-F238E27FC236}">
                <a16:creationId xmlns:a16="http://schemas.microsoft.com/office/drawing/2014/main" id="{095AA3BE-FB91-EE29-A9CE-3E03B9C32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163" y="1606347"/>
            <a:ext cx="4055544" cy="4055544"/>
          </a:xfrm>
          <a:prstGeom prst="rect">
            <a:avLst/>
          </a:prstGeom>
          <a:noFill/>
        </p:spPr>
      </p:pic>
    </p:spTree>
    <p:extLst>
      <p:ext uri="{BB962C8B-B14F-4D97-AF65-F5344CB8AC3E}">
        <p14:creationId xmlns:p14="http://schemas.microsoft.com/office/powerpoint/2010/main" val="81026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7E4C2-8224-755D-D740-D1F6C30985A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0769E6-A728-EA90-21DB-BAB279933E66}"/>
              </a:ext>
            </a:extLst>
          </p:cNvPr>
          <p:cNvSpPr>
            <a:spLocks noGrp="1"/>
          </p:cNvSpPr>
          <p:nvPr>
            <p:ph type="sldNum" sz="quarter" idx="12"/>
          </p:nvPr>
        </p:nvSpPr>
        <p:spPr>
          <a:xfrm>
            <a:off x="11359400" y="6356350"/>
            <a:ext cx="540775" cy="365125"/>
          </a:xfrm>
        </p:spPr>
        <p:txBody>
          <a:bodyPr/>
          <a:lstStyle/>
          <a:p>
            <a:fld id="{467E6174-F508-4684-B91E-FB2DFBEFD211}" type="slidenum">
              <a:rPr lang="en-US" smtClean="0"/>
              <a:pPr/>
              <a:t>5</a:t>
            </a:fld>
            <a:endParaRPr lang="en-US" dirty="0"/>
          </a:p>
        </p:txBody>
      </p:sp>
      <p:sp>
        <p:nvSpPr>
          <p:cNvPr id="8" name="Content Placeholder 2">
            <a:extLst>
              <a:ext uri="{FF2B5EF4-FFF2-40B4-BE49-F238E27FC236}">
                <a16:creationId xmlns:a16="http://schemas.microsoft.com/office/drawing/2014/main" id="{A6E7412A-8F95-C1C0-F4E2-EF0231C48B30}"/>
              </a:ext>
            </a:extLst>
          </p:cNvPr>
          <p:cNvSpPr>
            <a:spLocks noGrp="1"/>
          </p:cNvSpPr>
          <p:nvPr>
            <p:ph idx="4294967295"/>
          </p:nvPr>
        </p:nvSpPr>
        <p:spPr>
          <a:xfrm>
            <a:off x="860322" y="1642408"/>
            <a:ext cx="10499078" cy="4133020"/>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Develop a low-cost, real-time IoT-based smart helmet for motorcycle riders.</a:t>
            </a:r>
          </a:p>
          <a:p>
            <a:pPr>
              <a:lnSpc>
                <a:spcPct val="150000"/>
              </a:lnSpc>
            </a:pPr>
            <a:r>
              <a:rPr lang="en-US" sz="1800" dirty="0">
                <a:latin typeface="Times New Roman" panose="02020603050405020304" pitchFamily="18" charset="0"/>
                <a:cs typeface="Times New Roman" panose="02020603050405020304" pitchFamily="18" charset="0"/>
              </a:rPr>
              <a:t>Integrate multiple safety features: helmet use, alcohol detection, drowsiness, accident, and weather monitoring.</a:t>
            </a:r>
          </a:p>
          <a:p>
            <a:pPr>
              <a:lnSpc>
                <a:spcPct val="150000"/>
              </a:lnSpc>
            </a:pPr>
            <a:r>
              <a:rPr lang="en-US" sz="1800" dirty="0">
                <a:latin typeface="Times New Roman" panose="02020603050405020304" pitchFamily="18" charset="0"/>
                <a:cs typeface="Times New Roman" panose="02020603050405020304" pitchFamily="18" charset="0"/>
              </a:rPr>
              <a:t>Enable automatic emergency alerts through GSM and GPS modules.</a:t>
            </a:r>
          </a:p>
          <a:p>
            <a:pPr>
              <a:lnSpc>
                <a:spcPct val="150000"/>
              </a:lnSpc>
            </a:pPr>
            <a:r>
              <a:rPr lang="en-US" sz="1800" dirty="0">
                <a:latin typeface="Times New Roman" panose="02020603050405020304" pitchFamily="18" charset="0"/>
                <a:cs typeface="Times New Roman" panose="02020603050405020304" pitchFamily="18" charset="0"/>
              </a:rPr>
              <a:t>Implement machine learning to predict road conditions (Excellent–Very Poor).</a:t>
            </a:r>
          </a:p>
          <a:p>
            <a:pPr>
              <a:lnSpc>
                <a:spcPct val="150000"/>
              </a:lnSpc>
            </a:pPr>
            <a:r>
              <a:rPr lang="en-US" sz="1800" dirty="0">
                <a:latin typeface="Times New Roman" panose="02020603050405020304" pitchFamily="18" charset="0"/>
                <a:cs typeface="Times New Roman" panose="02020603050405020304" pitchFamily="18" charset="0"/>
              </a:rPr>
              <a:t>Provide real-time data visualization and alerts via a smartphone app.</a:t>
            </a:r>
          </a:p>
          <a:p>
            <a:pPr>
              <a:lnSpc>
                <a:spcPct val="150000"/>
              </a:lnSpc>
            </a:pPr>
            <a:r>
              <a:rPr lang="en-US" sz="1800" dirty="0">
                <a:latin typeface="Times New Roman" panose="02020603050405020304" pitchFamily="18" charset="0"/>
                <a:cs typeface="Times New Roman" panose="02020603050405020304" pitchFamily="18" charset="0"/>
              </a:rPr>
              <a:t>Enhance overall rider safety and community awareness through cloud-based data sharing.</a:t>
            </a:r>
            <a:endParaRPr lang="en-US" sz="1800" dirty="0">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89F3FAA7-DEB9-C7FF-126F-B93BE4098DF1}"/>
              </a:ext>
            </a:extLst>
          </p:cNvPr>
          <p:cNvSpPr>
            <a:spLocks noGrp="1"/>
          </p:cNvSpPr>
          <p:nvPr>
            <p:ph type="title"/>
          </p:nvPr>
        </p:nvSpPr>
        <p:spPr>
          <a:xfrm>
            <a:off x="2306321" y="1082572"/>
            <a:ext cx="7142480" cy="480784"/>
          </a:xfrm>
        </p:spPr>
        <p:txBody>
          <a:bodyPr>
            <a:normAutofit fontScale="90000"/>
          </a:bodyPr>
          <a:lstStyle/>
          <a:p>
            <a:pPr algn="ctr"/>
            <a:r>
              <a:rPr lang="en-US" sz="4000" b="1" dirty="0">
                <a:solidFill>
                  <a:srgbClr val="1E567E"/>
                </a:solidFill>
              </a:rPr>
              <a:t>Objective of SafeRide </a:t>
            </a:r>
          </a:p>
        </p:txBody>
      </p:sp>
      <p:sp>
        <p:nvSpPr>
          <p:cNvPr id="2" name="Footer Placeholder 5">
            <a:extLst>
              <a:ext uri="{FF2B5EF4-FFF2-40B4-BE49-F238E27FC236}">
                <a16:creationId xmlns:a16="http://schemas.microsoft.com/office/drawing/2014/main" id="{F2F123A8-83DD-F6B2-3555-E6AD40BA4C54}"/>
              </a:ext>
            </a:extLst>
          </p:cNvPr>
          <p:cNvSpPr>
            <a:spLocks noGrp="1"/>
          </p:cNvSpPr>
          <p:nvPr>
            <p:ph type="ftr" sz="quarter" idx="11"/>
          </p:nvPr>
        </p:nvSpPr>
        <p:spPr>
          <a:xfrm>
            <a:off x="291825" y="6356350"/>
            <a:ext cx="9372600" cy="228600"/>
          </a:xfrm>
          <a:prstGeom prst="rect">
            <a:avLst/>
          </a:prstGeom>
        </p:spPr>
        <p:txBody>
          <a:bodyPr/>
          <a:lstStyle/>
          <a:p>
            <a:r>
              <a:rPr lang="en-US" sz="1400" b="1" dirty="0">
                <a:solidFill>
                  <a:schemeClr val="accent1">
                    <a:lumMod val="50000"/>
                  </a:schemeClr>
                </a:solidFill>
              </a:rPr>
              <a:t>IEEE International Conference on Robotics, Automation, Artificial-Intelligence and Internet-of-Things 2025</a:t>
            </a:r>
          </a:p>
        </p:txBody>
      </p:sp>
    </p:spTree>
    <p:extLst>
      <p:ext uri="{BB962C8B-B14F-4D97-AF65-F5344CB8AC3E}">
        <p14:creationId xmlns:p14="http://schemas.microsoft.com/office/powerpoint/2010/main" val="3994260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64D4E-6A30-338B-8A5A-AE379C7CDEA2}"/>
              </a:ext>
            </a:extLst>
          </p:cNvPr>
          <p:cNvSpPr>
            <a:spLocks noGrp="1"/>
          </p:cNvSpPr>
          <p:nvPr>
            <p:ph type="title"/>
          </p:nvPr>
        </p:nvSpPr>
        <p:spPr>
          <a:xfrm>
            <a:off x="3000538" y="697358"/>
            <a:ext cx="9868937" cy="1067386"/>
          </a:xfrm>
        </p:spPr>
        <p:txBody>
          <a:bodyPr>
            <a:normAutofit/>
          </a:bodyPr>
          <a:lstStyle/>
          <a:p>
            <a:r>
              <a:rPr lang="en-US" sz="3600" b="1" dirty="0">
                <a:solidFill>
                  <a:schemeClr val="accent1">
                    <a:lumMod val="50000"/>
                  </a:schemeClr>
                </a:solidFill>
              </a:rPr>
              <a:t>Related work (Literature Review)</a:t>
            </a:r>
          </a:p>
        </p:txBody>
      </p:sp>
      <p:sp>
        <p:nvSpPr>
          <p:cNvPr id="4" name="Slide Number Placeholder 3">
            <a:extLst>
              <a:ext uri="{FF2B5EF4-FFF2-40B4-BE49-F238E27FC236}">
                <a16:creationId xmlns:a16="http://schemas.microsoft.com/office/drawing/2014/main" id="{CEF4008E-BDBC-A5C2-BAB9-4E0808A95DFF}"/>
              </a:ext>
            </a:extLst>
          </p:cNvPr>
          <p:cNvSpPr>
            <a:spLocks noGrp="1"/>
          </p:cNvSpPr>
          <p:nvPr>
            <p:ph type="sldNum" sz="quarter" idx="12"/>
          </p:nvPr>
        </p:nvSpPr>
        <p:spPr/>
        <p:txBody>
          <a:bodyPr/>
          <a:lstStyle/>
          <a:p>
            <a:fld id="{467E6174-F508-4684-B91E-FB2DFBEFD211}" type="slidenum">
              <a:rPr lang="en-US" smtClean="0"/>
              <a:pPr/>
              <a:t>6</a:t>
            </a:fld>
            <a:endParaRPr lang="en-US" dirty="0"/>
          </a:p>
        </p:txBody>
      </p:sp>
      <p:sp>
        <p:nvSpPr>
          <p:cNvPr id="5" name="Footer Placeholder 4">
            <a:extLst>
              <a:ext uri="{FF2B5EF4-FFF2-40B4-BE49-F238E27FC236}">
                <a16:creationId xmlns:a16="http://schemas.microsoft.com/office/drawing/2014/main" id="{758C5E24-85AA-57A8-0F9C-065037865EF8}"/>
              </a:ext>
            </a:extLst>
          </p:cNvPr>
          <p:cNvSpPr>
            <a:spLocks noGrp="1"/>
          </p:cNvSpPr>
          <p:nvPr>
            <p:ph type="ftr" sz="quarter" idx="11"/>
          </p:nvPr>
        </p:nvSpPr>
        <p:spPr>
          <a:xfrm>
            <a:off x="410480" y="6356349"/>
            <a:ext cx="9868937" cy="365125"/>
          </a:xfrm>
        </p:spPr>
        <p:txBody>
          <a:bodyPr/>
          <a:lstStyle/>
          <a:p>
            <a:r>
              <a:rPr lang="en-US" sz="1400" b="1" dirty="0">
                <a:solidFill>
                  <a:schemeClr val="accent1">
                    <a:lumMod val="50000"/>
                  </a:schemeClr>
                </a:solidFill>
              </a:rPr>
              <a:t>IEEE International Conference on Robotics, Automation, Artificial-Intelligence and Internet-of-Things 2025</a:t>
            </a:r>
          </a:p>
        </p:txBody>
      </p:sp>
      <p:sp>
        <p:nvSpPr>
          <p:cNvPr id="8" name="Content Placeholder 7">
            <a:extLst>
              <a:ext uri="{FF2B5EF4-FFF2-40B4-BE49-F238E27FC236}">
                <a16:creationId xmlns:a16="http://schemas.microsoft.com/office/drawing/2014/main" id="{7D1236A6-32C4-182E-D2E6-D696C4668DD5}"/>
              </a:ext>
            </a:extLst>
          </p:cNvPr>
          <p:cNvSpPr>
            <a:spLocks noGrp="1"/>
          </p:cNvSpPr>
          <p:nvPr>
            <p:ph idx="1"/>
          </p:nvPr>
        </p:nvSpPr>
        <p:spPr/>
        <p:txBody>
          <a:bodyPr>
            <a:normAutofit/>
          </a:bodyPr>
          <a:lstStyle/>
          <a:p>
            <a:r>
              <a:rPr lang="en-US" sz="1800" dirty="0"/>
              <a:t>Early systems focused on single features such as accident detection, alcohol sensing, or GPS tracking.</a:t>
            </a:r>
          </a:p>
          <a:p>
            <a:r>
              <a:rPr lang="en-US" sz="1800" i="1" dirty="0"/>
              <a:t>Islam et al. (2020)</a:t>
            </a:r>
            <a:r>
              <a:rPr lang="en-US" sz="1800" dirty="0"/>
              <a:t> designed a </a:t>
            </a:r>
            <a:r>
              <a:rPr lang="en-US" sz="1800" b="1" dirty="0"/>
              <a:t>gyroscope-based accident detection system</a:t>
            </a:r>
            <a:r>
              <a:rPr lang="en-US" sz="1800" dirty="0"/>
              <a:t> with local alerts [2].</a:t>
            </a:r>
          </a:p>
          <a:p>
            <a:r>
              <a:rPr lang="en-US" sz="1800" i="1" dirty="0"/>
              <a:t>Hu et al. (2018)</a:t>
            </a:r>
            <a:r>
              <a:rPr lang="en-US" sz="1800" dirty="0"/>
              <a:t> developed a </a:t>
            </a:r>
            <a:r>
              <a:rPr lang="en-US" sz="1800" b="1" dirty="0"/>
              <a:t>low-cost alcohol detection module</a:t>
            </a:r>
            <a:r>
              <a:rPr lang="en-US" sz="1800" dirty="0"/>
              <a:t> using the MQ-3 sensor [4].</a:t>
            </a:r>
          </a:p>
          <a:p>
            <a:r>
              <a:rPr lang="en-US" sz="1800" i="1" dirty="0"/>
              <a:t>Anish et al. (2023)</a:t>
            </a:r>
            <a:r>
              <a:rPr lang="en-US" sz="1800" dirty="0"/>
              <a:t> combined </a:t>
            </a:r>
            <a:r>
              <a:rPr lang="en-US" sz="1800" b="1" dirty="0"/>
              <a:t>IR helmet detection, alcohol, and accident sensors</a:t>
            </a:r>
            <a:r>
              <a:rPr lang="en-US" sz="1800" dirty="0"/>
              <a:t> with GSM/GPS for emergency response [5].</a:t>
            </a:r>
          </a:p>
          <a:p>
            <a:pPr marL="0" indent="0">
              <a:buNone/>
            </a:pPr>
            <a:endParaRPr lang="en-US" sz="1800" b="1" dirty="0"/>
          </a:p>
          <a:p>
            <a:pPr marL="0" indent="0">
              <a:buNone/>
            </a:pPr>
            <a:r>
              <a:rPr lang="en-US" sz="1800" b="1" dirty="0"/>
              <a:t>Limitations of Prior Work:</a:t>
            </a:r>
            <a:endParaRPr lang="en-US" sz="1800" dirty="0"/>
          </a:p>
          <a:p>
            <a:r>
              <a:rPr lang="en-US" sz="1800" dirty="0"/>
              <a:t>Most lacked real-time cloud connectivity and multi-sensor integration [6][7].</a:t>
            </a:r>
          </a:p>
          <a:p>
            <a:r>
              <a:rPr lang="en-US" sz="1800" dirty="0"/>
              <a:t>High false alarm rates and limited scalability in emergency communication [9].</a:t>
            </a:r>
          </a:p>
          <a:p>
            <a:r>
              <a:rPr lang="en-US" sz="1800" dirty="0"/>
              <a:t>Focused primarily on car-oriented systems rather than motorcycle applications [3].</a:t>
            </a:r>
          </a:p>
          <a:p>
            <a:pPr marL="0" indent="0">
              <a:buNone/>
            </a:pPr>
            <a:endParaRPr lang="en-US" sz="1800" dirty="0">
              <a:solidFill>
                <a:schemeClr val="tx1">
                  <a:lumMod val="95000"/>
                  <a:lumOff val="5000"/>
                </a:schemeClr>
              </a:solidFill>
            </a:endParaRPr>
          </a:p>
        </p:txBody>
      </p:sp>
    </p:spTree>
    <p:extLst>
      <p:ext uri="{BB962C8B-B14F-4D97-AF65-F5344CB8AC3E}">
        <p14:creationId xmlns:p14="http://schemas.microsoft.com/office/powerpoint/2010/main" val="1703747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98CC-00AD-425A-B7F8-268F495F8FA4}"/>
              </a:ext>
            </a:extLst>
          </p:cNvPr>
          <p:cNvSpPr>
            <a:spLocks noGrp="1"/>
          </p:cNvSpPr>
          <p:nvPr>
            <p:ph type="title"/>
          </p:nvPr>
        </p:nvSpPr>
        <p:spPr>
          <a:xfrm>
            <a:off x="2834936" y="988011"/>
            <a:ext cx="6990237" cy="573513"/>
          </a:xfrm>
        </p:spPr>
        <p:txBody>
          <a:bodyPr>
            <a:normAutofit fontScale="90000"/>
          </a:bodyPr>
          <a:lstStyle/>
          <a:p>
            <a:r>
              <a:rPr lang="en-US" b="1" dirty="0">
                <a:solidFill>
                  <a:srgbClr val="1E567E"/>
                </a:solidFill>
              </a:rPr>
              <a:t>    System Architecture</a:t>
            </a:r>
            <a:endParaRPr lang="en-US" sz="3200" dirty="0">
              <a:solidFill>
                <a:srgbClr val="1E567E"/>
              </a:solidFill>
            </a:endParaRPr>
          </a:p>
        </p:txBody>
      </p:sp>
      <p:sp>
        <p:nvSpPr>
          <p:cNvPr id="5" name="Slide Number Placeholder 4">
            <a:extLst>
              <a:ext uri="{FF2B5EF4-FFF2-40B4-BE49-F238E27FC236}">
                <a16:creationId xmlns:a16="http://schemas.microsoft.com/office/drawing/2014/main" id="{54B1CF3B-B446-45DC-9256-F72F6DF0A8FF}"/>
              </a:ext>
            </a:extLst>
          </p:cNvPr>
          <p:cNvSpPr>
            <a:spLocks noGrp="1"/>
          </p:cNvSpPr>
          <p:nvPr>
            <p:ph type="sldNum" sz="quarter" idx="12"/>
          </p:nvPr>
        </p:nvSpPr>
        <p:spPr/>
        <p:txBody>
          <a:bodyPr/>
          <a:lstStyle/>
          <a:p>
            <a:fld id="{467E6174-F508-4684-B91E-FB2DFBEFD211}" type="slidenum">
              <a:rPr lang="en-US" smtClean="0"/>
              <a:pPr/>
              <a:t>7</a:t>
            </a:fld>
            <a:endParaRPr lang="en-US" dirty="0"/>
          </a:p>
        </p:txBody>
      </p:sp>
      <p:pic>
        <p:nvPicPr>
          <p:cNvPr id="4" name="Picture 3">
            <a:extLst>
              <a:ext uri="{FF2B5EF4-FFF2-40B4-BE49-F238E27FC236}">
                <a16:creationId xmlns:a16="http://schemas.microsoft.com/office/drawing/2014/main" id="{CDE39B38-C8C1-E329-B3CA-6DF1935F78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5911" y="2467600"/>
            <a:ext cx="4605806" cy="2590765"/>
          </a:xfrm>
          <a:prstGeom prst="rect">
            <a:avLst/>
          </a:prstGeom>
        </p:spPr>
      </p:pic>
      <p:sp>
        <p:nvSpPr>
          <p:cNvPr id="3" name="TextBox 2">
            <a:extLst>
              <a:ext uri="{FF2B5EF4-FFF2-40B4-BE49-F238E27FC236}">
                <a16:creationId xmlns:a16="http://schemas.microsoft.com/office/drawing/2014/main" id="{99949A6F-C54B-C019-2759-B454B1330666}"/>
              </a:ext>
            </a:extLst>
          </p:cNvPr>
          <p:cNvSpPr txBox="1"/>
          <p:nvPr/>
        </p:nvSpPr>
        <p:spPr>
          <a:xfrm>
            <a:off x="420284" y="1721224"/>
            <a:ext cx="6848264" cy="4401205"/>
          </a:xfrm>
          <a:prstGeom prst="rect">
            <a:avLst/>
          </a:prstGeom>
          <a:noFill/>
        </p:spPr>
        <p:txBody>
          <a:bodyPr wrap="square" rtlCol="0">
            <a:spAutoFit/>
          </a:bodyPr>
          <a:lstStyle/>
          <a:p>
            <a:r>
              <a:rPr lang="en-US" sz="2000" b="1" dirty="0"/>
              <a:t>Layers:</a:t>
            </a:r>
            <a:br>
              <a:rPr lang="en-US" sz="2000" dirty="0"/>
            </a:br>
            <a:r>
              <a:rPr lang="en-US" sz="2000" dirty="0"/>
              <a:t>Sensor → Microcontroller (ESP32 + Arduino UNO) → Wi-Fi (</a:t>
            </a:r>
            <a:r>
              <a:rPr lang="en-US" sz="2000" dirty="0" err="1"/>
              <a:t>NodeMCU</a:t>
            </a:r>
            <a:r>
              <a:rPr lang="en-US" sz="2000" dirty="0"/>
              <a:t>) → Cloud Database (MySQL) → ML Inference (Road Condition Prediction) → Visualization &amp; Alerts (Mobile/Web App)</a:t>
            </a:r>
          </a:p>
          <a:p>
            <a:r>
              <a:rPr lang="en-US" sz="2000" b="1" dirty="0"/>
              <a:t>Data Path:</a:t>
            </a:r>
            <a:br>
              <a:rPr lang="en-US" sz="2000" dirty="0"/>
            </a:br>
            <a:r>
              <a:rPr lang="en-US" sz="2000" dirty="0"/>
              <a:t>Serial (UART 9600) → Wi-Fi → REST/API → Smartphone</a:t>
            </a:r>
          </a:p>
          <a:p>
            <a:r>
              <a:rPr lang="en-US" sz="2000" dirty="0"/>
              <a:t>Dashboard</a:t>
            </a:r>
          </a:p>
          <a:p>
            <a:r>
              <a:rPr lang="en-US" sz="2000" b="1" dirty="0"/>
              <a:t>Dual Mode:</a:t>
            </a:r>
            <a:br>
              <a:rPr lang="en-US" sz="2000" dirty="0"/>
            </a:br>
            <a:r>
              <a:rPr lang="en-US" sz="2000" dirty="0"/>
              <a:t>Local (LCD + Buzzer Alerts) + Remote (Cloud Dashboard &amp; Emergency SMS)</a:t>
            </a:r>
          </a:p>
          <a:p>
            <a:r>
              <a:rPr lang="en-US" sz="2000" b="1" dirty="0"/>
              <a:t>Feedback Loop:</a:t>
            </a:r>
            <a:br>
              <a:rPr lang="en-US" sz="2000" dirty="0"/>
            </a:br>
            <a:r>
              <a:rPr lang="en-US" sz="2000" dirty="0"/>
              <a:t>Predicted risks and unsafe conditions trigger contextual alerts and safety recommendations for riders.</a:t>
            </a:r>
          </a:p>
        </p:txBody>
      </p:sp>
      <p:sp>
        <p:nvSpPr>
          <p:cNvPr id="6" name="Footer Placeholder 5">
            <a:extLst>
              <a:ext uri="{FF2B5EF4-FFF2-40B4-BE49-F238E27FC236}">
                <a16:creationId xmlns:a16="http://schemas.microsoft.com/office/drawing/2014/main" id="{FF8E9232-183E-3F27-0520-6C2F3BEB3E8C}"/>
              </a:ext>
            </a:extLst>
          </p:cNvPr>
          <p:cNvSpPr txBox="1">
            <a:spLocks/>
          </p:cNvSpPr>
          <p:nvPr/>
        </p:nvSpPr>
        <p:spPr>
          <a:xfrm>
            <a:off x="251012" y="6282129"/>
            <a:ext cx="9667429" cy="439346"/>
          </a:xfrm>
          <a:prstGeom prst="rect">
            <a:avLst/>
          </a:prstGeom>
        </p:spPr>
        <p:txBody>
          <a:bodyPr/>
          <a:lstStyle>
            <a:defPPr>
              <a:defRPr lang="en-US"/>
            </a:defPPr>
            <a:lvl1pPr marL="0" algn="l" defTabSz="914400" rtl="0" eaLnBrk="1" latinLnBrk="0" hangingPunct="1">
              <a:defRPr lang="en-US" sz="1800" b="0" i="0" kern="1200" cap="all" smtClean="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solidFill>
                  <a:schemeClr val="accent1">
                    <a:lumMod val="50000"/>
                  </a:schemeClr>
                </a:solidFill>
              </a:rPr>
              <a:t>IEEE International Conference on Robotics, Automation, Artificial-Intelligence and Internet-of-Things 2025</a:t>
            </a:r>
          </a:p>
        </p:txBody>
      </p:sp>
    </p:spTree>
    <p:extLst>
      <p:ext uri="{BB962C8B-B14F-4D97-AF65-F5344CB8AC3E}">
        <p14:creationId xmlns:p14="http://schemas.microsoft.com/office/powerpoint/2010/main" val="1689550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6DECEDC-C826-4ED0-AC4E-683E37805011}"/>
              </a:ext>
            </a:extLst>
          </p:cNvPr>
          <p:cNvSpPr>
            <a:spLocks noGrp="1"/>
          </p:cNvSpPr>
          <p:nvPr>
            <p:ph type="sldNum" sz="quarter" idx="12"/>
          </p:nvPr>
        </p:nvSpPr>
        <p:spPr>
          <a:xfrm>
            <a:off x="10696753" y="6356350"/>
            <a:ext cx="657045" cy="365125"/>
          </a:xfrm>
        </p:spPr>
        <p:txBody>
          <a:bodyPr/>
          <a:lstStyle/>
          <a:p>
            <a:r>
              <a:rPr lang="en-US" dirty="0"/>
              <a:t>4</a:t>
            </a:r>
          </a:p>
        </p:txBody>
      </p:sp>
      <p:sp>
        <p:nvSpPr>
          <p:cNvPr id="85" name="Title 1">
            <a:extLst>
              <a:ext uri="{FF2B5EF4-FFF2-40B4-BE49-F238E27FC236}">
                <a16:creationId xmlns:a16="http://schemas.microsoft.com/office/drawing/2014/main" id="{37B51491-EC14-DD37-7F7B-D95C1E52A567}"/>
              </a:ext>
            </a:extLst>
          </p:cNvPr>
          <p:cNvSpPr>
            <a:spLocks noGrp="1"/>
          </p:cNvSpPr>
          <p:nvPr>
            <p:ph type="title"/>
          </p:nvPr>
        </p:nvSpPr>
        <p:spPr>
          <a:xfrm>
            <a:off x="1257300" y="1017037"/>
            <a:ext cx="9677400" cy="728895"/>
          </a:xfrm>
        </p:spPr>
        <p:txBody>
          <a:bodyPr>
            <a:normAutofit/>
          </a:bodyPr>
          <a:lstStyle/>
          <a:p>
            <a:r>
              <a:rPr lang="en-US" sz="4000" b="1" dirty="0">
                <a:solidFill>
                  <a:srgbClr val="1E567E"/>
                </a:solidFill>
              </a:rPr>
              <a:t>       Hardware Component &amp; Integration </a:t>
            </a:r>
          </a:p>
        </p:txBody>
      </p:sp>
      <p:pic>
        <p:nvPicPr>
          <p:cNvPr id="3" name="Picture 2">
            <a:extLst>
              <a:ext uri="{FF2B5EF4-FFF2-40B4-BE49-F238E27FC236}">
                <a16:creationId xmlns:a16="http://schemas.microsoft.com/office/drawing/2014/main" id="{1EFF67FF-E62A-E765-D35C-2FE1E421F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3100" y="2004635"/>
            <a:ext cx="4816853" cy="3661057"/>
          </a:xfrm>
          <a:prstGeom prst="rect">
            <a:avLst/>
          </a:prstGeom>
        </p:spPr>
      </p:pic>
      <p:sp>
        <p:nvSpPr>
          <p:cNvPr id="8" name="Footer Placeholder 5">
            <a:extLst>
              <a:ext uri="{FF2B5EF4-FFF2-40B4-BE49-F238E27FC236}">
                <a16:creationId xmlns:a16="http://schemas.microsoft.com/office/drawing/2014/main" id="{B6DDC6ED-F64F-4F10-4C38-57BF40C5FA51}"/>
              </a:ext>
            </a:extLst>
          </p:cNvPr>
          <p:cNvSpPr>
            <a:spLocks noGrp="1"/>
          </p:cNvSpPr>
          <p:nvPr>
            <p:ph type="ftr" sz="quarter" idx="11"/>
          </p:nvPr>
        </p:nvSpPr>
        <p:spPr>
          <a:xfrm>
            <a:off x="428289" y="6356350"/>
            <a:ext cx="9527475" cy="628585"/>
          </a:xfrm>
          <a:prstGeom prst="rect">
            <a:avLst/>
          </a:prstGeom>
        </p:spPr>
        <p:txBody>
          <a:bodyPr/>
          <a:lstStyle/>
          <a:p>
            <a:r>
              <a:rPr lang="en-US" sz="1400" b="1" dirty="0">
                <a:solidFill>
                  <a:srgbClr val="1E567E"/>
                </a:solidFill>
              </a:rPr>
              <a:t>IEEE International Conference on Robotics, Automation, Artificial-Intelligence and Internet-of-Things 2025</a:t>
            </a:r>
          </a:p>
        </p:txBody>
      </p:sp>
      <p:pic>
        <p:nvPicPr>
          <p:cNvPr id="4" name="Picture 3">
            <a:extLst>
              <a:ext uri="{FF2B5EF4-FFF2-40B4-BE49-F238E27FC236}">
                <a16:creationId xmlns:a16="http://schemas.microsoft.com/office/drawing/2014/main" id="{46744A49-84D5-43B9-A706-898FB0DF1877}"/>
              </a:ext>
            </a:extLst>
          </p:cNvPr>
          <p:cNvPicPr>
            <a:picLocks noChangeAspect="1"/>
          </p:cNvPicPr>
          <p:nvPr/>
        </p:nvPicPr>
        <p:blipFill>
          <a:blip r:embed="rId3"/>
          <a:stretch>
            <a:fillRect/>
          </a:stretch>
        </p:blipFill>
        <p:spPr>
          <a:xfrm>
            <a:off x="722658" y="1932919"/>
            <a:ext cx="5744377" cy="3801005"/>
          </a:xfrm>
          <a:prstGeom prst="rect">
            <a:avLst/>
          </a:prstGeom>
        </p:spPr>
      </p:pic>
    </p:spTree>
    <p:extLst>
      <p:ext uri="{BB962C8B-B14F-4D97-AF65-F5344CB8AC3E}">
        <p14:creationId xmlns:p14="http://schemas.microsoft.com/office/powerpoint/2010/main" val="344108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28929-F697-A681-4D59-6896A753D35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3422EE-FFE1-EE17-7315-014DA74763B0}"/>
              </a:ext>
            </a:extLst>
          </p:cNvPr>
          <p:cNvSpPr>
            <a:spLocks noGrp="1"/>
          </p:cNvSpPr>
          <p:nvPr>
            <p:ph type="sldNum" sz="quarter" idx="12"/>
          </p:nvPr>
        </p:nvSpPr>
        <p:spPr>
          <a:xfrm>
            <a:off x="10696753" y="6356350"/>
            <a:ext cx="657045" cy="365125"/>
          </a:xfrm>
        </p:spPr>
        <p:txBody>
          <a:bodyPr/>
          <a:lstStyle/>
          <a:p>
            <a:r>
              <a:rPr lang="en-US" dirty="0"/>
              <a:t>4</a:t>
            </a:r>
          </a:p>
        </p:txBody>
      </p:sp>
      <p:sp>
        <p:nvSpPr>
          <p:cNvPr id="85" name="Title 1">
            <a:extLst>
              <a:ext uri="{FF2B5EF4-FFF2-40B4-BE49-F238E27FC236}">
                <a16:creationId xmlns:a16="http://schemas.microsoft.com/office/drawing/2014/main" id="{B7C49B40-8E7C-F6DA-9921-758E5C2D60E9}"/>
              </a:ext>
            </a:extLst>
          </p:cNvPr>
          <p:cNvSpPr>
            <a:spLocks noGrp="1"/>
          </p:cNvSpPr>
          <p:nvPr>
            <p:ph type="title"/>
          </p:nvPr>
        </p:nvSpPr>
        <p:spPr>
          <a:xfrm>
            <a:off x="1257300" y="1072890"/>
            <a:ext cx="9677400" cy="518160"/>
          </a:xfrm>
        </p:spPr>
        <p:txBody>
          <a:bodyPr>
            <a:normAutofit fontScale="90000"/>
          </a:bodyPr>
          <a:lstStyle/>
          <a:p>
            <a:pPr algn="ctr"/>
            <a:r>
              <a:rPr lang="en-US" sz="4000" b="1" dirty="0">
                <a:solidFill>
                  <a:srgbClr val="1E567E"/>
                </a:solidFill>
              </a:rPr>
              <a:t>Data Acquisition &amp; Processing</a:t>
            </a:r>
          </a:p>
        </p:txBody>
      </p:sp>
      <p:sp>
        <p:nvSpPr>
          <p:cNvPr id="93" name="Footer Placeholder 5">
            <a:extLst>
              <a:ext uri="{FF2B5EF4-FFF2-40B4-BE49-F238E27FC236}">
                <a16:creationId xmlns:a16="http://schemas.microsoft.com/office/drawing/2014/main" id="{56B99B51-D641-6C38-F2E1-5C870699A153}"/>
              </a:ext>
            </a:extLst>
          </p:cNvPr>
          <p:cNvSpPr>
            <a:spLocks noGrp="1"/>
          </p:cNvSpPr>
          <p:nvPr>
            <p:ph type="ftr" sz="quarter" idx="11"/>
          </p:nvPr>
        </p:nvSpPr>
        <p:spPr>
          <a:xfrm>
            <a:off x="387222" y="6336795"/>
            <a:ext cx="10580910" cy="365125"/>
          </a:xfrm>
          <a:prstGeom prst="rect">
            <a:avLst/>
          </a:prstGeom>
        </p:spPr>
        <p:txBody>
          <a:bodyPr/>
          <a:lstStyle/>
          <a:p>
            <a:r>
              <a:rPr lang="en-US" sz="1400" b="1" dirty="0">
                <a:solidFill>
                  <a:srgbClr val="1E567E"/>
                </a:solidFill>
              </a:rPr>
              <a:t>IEEE International Conference on Robotics, Automation, Artificial-Intelligence and Internet-of-Things 2025</a:t>
            </a:r>
          </a:p>
        </p:txBody>
      </p:sp>
      <p:sp>
        <p:nvSpPr>
          <p:cNvPr id="6" name="Rectangle 2">
            <a:extLst>
              <a:ext uri="{FF2B5EF4-FFF2-40B4-BE49-F238E27FC236}">
                <a16:creationId xmlns:a16="http://schemas.microsoft.com/office/drawing/2014/main" id="{CEA33ED5-9049-7536-99A7-16CE64840376}"/>
              </a:ext>
            </a:extLst>
          </p:cNvPr>
          <p:cNvSpPr>
            <a:spLocks noChangeArrowheads="1"/>
          </p:cNvSpPr>
          <p:nvPr/>
        </p:nvSpPr>
        <p:spPr bwMode="auto">
          <a:xfrm rot="10800000" flipV="1">
            <a:off x="1552928" y="2015150"/>
            <a:ext cx="9763692" cy="46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Sensors measure parameters such as alcohol level, rain intensity, speed, and vibration.</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741481D-E25F-0E36-18A6-F1ACF16DA7E1}"/>
              </a:ext>
            </a:extLst>
          </p:cNvPr>
          <p:cNvSpPr txBox="1"/>
          <p:nvPr/>
        </p:nvSpPr>
        <p:spPr>
          <a:xfrm>
            <a:off x="1552928" y="4852367"/>
            <a:ext cx="8649478" cy="8788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is processed by the ESP32 microcontroller and transmitted to the cloud via Wi-Fi for real-time monitoring.</a:t>
            </a:r>
          </a:p>
        </p:txBody>
      </p:sp>
      <p:pic>
        <p:nvPicPr>
          <p:cNvPr id="3" name="Picture 2">
            <a:extLst>
              <a:ext uri="{FF2B5EF4-FFF2-40B4-BE49-F238E27FC236}">
                <a16:creationId xmlns:a16="http://schemas.microsoft.com/office/drawing/2014/main" id="{B196F856-05DA-4A75-9210-AE569127E3B7}"/>
              </a:ext>
            </a:extLst>
          </p:cNvPr>
          <p:cNvPicPr>
            <a:picLocks noChangeAspect="1"/>
          </p:cNvPicPr>
          <p:nvPr/>
        </p:nvPicPr>
        <p:blipFill>
          <a:blip r:embed="rId2"/>
          <a:stretch>
            <a:fillRect/>
          </a:stretch>
        </p:blipFill>
        <p:spPr>
          <a:xfrm>
            <a:off x="2969294" y="2585501"/>
            <a:ext cx="3465480" cy="2290054"/>
          </a:xfrm>
          <a:prstGeom prst="rect">
            <a:avLst/>
          </a:prstGeom>
        </p:spPr>
      </p:pic>
    </p:spTree>
    <p:extLst>
      <p:ext uri="{BB962C8B-B14F-4D97-AF65-F5344CB8AC3E}">
        <p14:creationId xmlns:p14="http://schemas.microsoft.com/office/powerpoint/2010/main" val="2478384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37C9-E994-4086-91A5-A404F861D563}"/>
              </a:ext>
            </a:extLst>
          </p:cNvPr>
          <p:cNvSpPr>
            <a:spLocks noGrp="1"/>
          </p:cNvSpPr>
          <p:nvPr>
            <p:ph type="title"/>
          </p:nvPr>
        </p:nvSpPr>
        <p:spPr>
          <a:xfrm>
            <a:off x="1395586" y="766877"/>
            <a:ext cx="9868937" cy="1067386"/>
          </a:xfrm>
        </p:spPr>
        <p:txBody>
          <a:bodyPr>
            <a:normAutofit/>
          </a:bodyPr>
          <a:lstStyle/>
          <a:p>
            <a:pPr algn="ctr"/>
            <a:r>
              <a:rPr lang="en-US" sz="3600" b="1" dirty="0">
                <a:solidFill>
                  <a:schemeClr val="accent5">
                    <a:lumMod val="75000"/>
                  </a:schemeClr>
                </a:solidFill>
              </a:rPr>
              <a:t>Alert System</a:t>
            </a:r>
          </a:p>
        </p:txBody>
      </p:sp>
      <p:sp>
        <p:nvSpPr>
          <p:cNvPr id="3" name="Content Placeholder 2">
            <a:extLst>
              <a:ext uri="{FF2B5EF4-FFF2-40B4-BE49-F238E27FC236}">
                <a16:creationId xmlns:a16="http://schemas.microsoft.com/office/drawing/2014/main" id="{5FC44174-8A9F-4624-8D8D-D29A698B1632}"/>
              </a:ext>
            </a:extLst>
          </p:cNvPr>
          <p:cNvSpPr>
            <a:spLocks noGrp="1"/>
          </p:cNvSpPr>
          <p:nvPr>
            <p:ph idx="1"/>
          </p:nvPr>
        </p:nvSpPr>
        <p:spPr>
          <a:xfrm>
            <a:off x="624621" y="1739785"/>
            <a:ext cx="9868937" cy="4351338"/>
          </a:xfrm>
        </p:spPr>
        <p:txBody>
          <a:bodyPr/>
          <a:lstStyle/>
          <a:p>
            <a:pPr algn="just"/>
            <a:r>
              <a:rPr lang="en-US" sz="1800" b="1" dirty="0"/>
              <a:t>Helmet not worn →</a:t>
            </a:r>
            <a:r>
              <a:rPr lang="en-US" sz="1800" dirty="0"/>
              <a:t> Ignition automatically turns off</a:t>
            </a:r>
          </a:p>
          <a:p>
            <a:pPr algn="just"/>
            <a:r>
              <a:rPr lang="en-US" sz="1800" b="1" dirty="0"/>
              <a:t>Alcohol &gt; 200 ppm →</a:t>
            </a:r>
            <a:r>
              <a:rPr lang="en-US" sz="1800" dirty="0"/>
              <a:t> Engine stops and buzzer alert activates</a:t>
            </a:r>
          </a:p>
          <a:p>
            <a:pPr algn="just"/>
            <a:r>
              <a:rPr lang="en-US" sz="1800" b="1" dirty="0"/>
              <a:t>Drowsiness (Eye-blinks &gt; 10 per 30s) →</a:t>
            </a:r>
            <a:r>
              <a:rPr lang="en-US" sz="1800" dirty="0"/>
              <a:t> Buzzer warning sounds</a:t>
            </a:r>
          </a:p>
          <a:p>
            <a:pPr algn="just"/>
            <a:r>
              <a:rPr lang="en-US" sz="1800" b="1" dirty="0"/>
              <a:t>Accident detected →</a:t>
            </a:r>
            <a:r>
              <a:rPr lang="en-US" sz="1800" dirty="0"/>
              <a:t> Emergency SMS sent with GPS location</a:t>
            </a:r>
          </a:p>
          <a:p>
            <a:pPr algn="just"/>
            <a:r>
              <a:rPr lang="en-US" sz="1800" b="1" dirty="0"/>
              <a:t>Weather alerts →</a:t>
            </a:r>
            <a:r>
              <a:rPr lang="en-US" sz="1800" dirty="0"/>
              <a:t> Rain or low visibility warnings</a:t>
            </a:r>
          </a:p>
          <a:p>
            <a:pPr algn="just"/>
            <a:r>
              <a:rPr lang="en-US" sz="1800" b="1" dirty="0"/>
              <a:t>Rear-vehicle proximity →</a:t>
            </a:r>
            <a:r>
              <a:rPr lang="en-US" sz="1800" dirty="0"/>
              <a:t> Ultrasonic sensor triggers distance alarm</a:t>
            </a:r>
          </a:p>
          <a:p>
            <a:endParaRPr lang="en-US" dirty="0"/>
          </a:p>
        </p:txBody>
      </p:sp>
      <p:sp>
        <p:nvSpPr>
          <p:cNvPr id="4" name="Slide Number Placeholder 3">
            <a:extLst>
              <a:ext uri="{FF2B5EF4-FFF2-40B4-BE49-F238E27FC236}">
                <a16:creationId xmlns:a16="http://schemas.microsoft.com/office/drawing/2014/main" id="{6DAB76B2-80A0-4DE9-8720-C6F629A94E71}"/>
              </a:ext>
            </a:extLst>
          </p:cNvPr>
          <p:cNvSpPr>
            <a:spLocks noGrp="1"/>
          </p:cNvSpPr>
          <p:nvPr>
            <p:ph type="sldNum" sz="quarter" idx="12"/>
          </p:nvPr>
        </p:nvSpPr>
        <p:spPr/>
        <p:txBody>
          <a:bodyPr/>
          <a:lstStyle/>
          <a:p>
            <a:fld id="{467E6174-F508-4684-B91E-FB2DFBEFD211}" type="slidenum">
              <a:rPr lang="en-US" smtClean="0"/>
              <a:pPr/>
              <a:t>10</a:t>
            </a:fld>
            <a:endParaRPr lang="en-US" dirty="0"/>
          </a:p>
        </p:txBody>
      </p:sp>
      <p:sp>
        <p:nvSpPr>
          <p:cNvPr id="5" name="Footer Placeholder 4">
            <a:extLst>
              <a:ext uri="{FF2B5EF4-FFF2-40B4-BE49-F238E27FC236}">
                <a16:creationId xmlns:a16="http://schemas.microsoft.com/office/drawing/2014/main" id="{DB344B6D-5DA7-471C-8558-B065CDD5E943}"/>
              </a:ext>
            </a:extLst>
          </p:cNvPr>
          <p:cNvSpPr>
            <a:spLocks noGrp="1"/>
          </p:cNvSpPr>
          <p:nvPr>
            <p:ph type="ftr" sz="quarter" idx="11"/>
          </p:nvPr>
        </p:nvSpPr>
        <p:spPr>
          <a:xfrm>
            <a:off x="80682" y="6230471"/>
            <a:ext cx="10342171" cy="483499"/>
          </a:xfrm>
        </p:spPr>
        <p:txBody>
          <a:bodyPr/>
          <a:lstStyle/>
          <a:p>
            <a:r>
              <a:rPr lang="en-US" sz="1400" dirty="0">
                <a:solidFill>
                  <a:srgbClr val="0070C0"/>
                </a:solidFill>
              </a:rPr>
              <a:t>IEEE International Conference on Robotics, Automation, Artificial-Intelligence and Internet-of-Things 2025</a:t>
            </a:r>
          </a:p>
        </p:txBody>
      </p:sp>
      <p:pic>
        <p:nvPicPr>
          <p:cNvPr id="7" name="Picture 6">
            <a:extLst>
              <a:ext uri="{FF2B5EF4-FFF2-40B4-BE49-F238E27FC236}">
                <a16:creationId xmlns:a16="http://schemas.microsoft.com/office/drawing/2014/main" id="{9E65AEFC-790C-4C02-968B-2BFCE417D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7664" y="1600437"/>
            <a:ext cx="2829715" cy="4253861"/>
          </a:xfrm>
          <a:prstGeom prst="rect">
            <a:avLst/>
          </a:prstGeom>
        </p:spPr>
      </p:pic>
    </p:spTree>
    <p:extLst>
      <p:ext uri="{BB962C8B-B14F-4D97-AF65-F5344CB8AC3E}">
        <p14:creationId xmlns:p14="http://schemas.microsoft.com/office/powerpoint/2010/main" val="2841476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43FE8-722F-438C-8B20-CBAF8673443D}"/>
              </a:ext>
            </a:extLst>
          </p:cNvPr>
          <p:cNvSpPr>
            <a:spLocks noGrp="1"/>
          </p:cNvSpPr>
          <p:nvPr>
            <p:ph type="title"/>
          </p:nvPr>
        </p:nvSpPr>
        <p:spPr>
          <a:xfrm>
            <a:off x="1484862" y="689853"/>
            <a:ext cx="9868937" cy="1067386"/>
          </a:xfrm>
        </p:spPr>
        <p:txBody>
          <a:bodyPr>
            <a:normAutofit/>
          </a:bodyPr>
          <a:lstStyle/>
          <a:p>
            <a:pPr algn="ctr"/>
            <a:r>
              <a:rPr lang="en-US" sz="3600" b="1" dirty="0">
                <a:solidFill>
                  <a:schemeClr val="accent1">
                    <a:lumMod val="50000"/>
                  </a:schemeClr>
                </a:solidFill>
              </a:rPr>
              <a:t>Smartphone App Workflow</a:t>
            </a:r>
          </a:p>
        </p:txBody>
      </p:sp>
      <p:sp>
        <p:nvSpPr>
          <p:cNvPr id="3" name="Content Placeholder 2">
            <a:extLst>
              <a:ext uri="{FF2B5EF4-FFF2-40B4-BE49-F238E27FC236}">
                <a16:creationId xmlns:a16="http://schemas.microsoft.com/office/drawing/2014/main" id="{52AE52A2-2CB2-476D-9B5E-40A39189ED8F}"/>
              </a:ext>
            </a:extLst>
          </p:cNvPr>
          <p:cNvSpPr>
            <a:spLocks noGrp="1"/>
          </p:cNvSpPr>
          <p:nvPr>
            <p:ph idx="1"/>
          </p:nvPr>
        </p:nvSpPr>
        <p:spPr>
          <a:xfrm>
            <a:off x="475129" y="1757239"/>
            <a:ext cx="7037295" cy="4351338"/>
          </a:xfrm>
        </p:spPr>
        <p:txBody>
          <a:bodyPr>
            <a:normAutofit/>
          </a:bodyPr>
          <a:lstStyle/>
          <a:p>
            <a:r>
              <a:rPr lang="en-US" sz="1800" b="1" dirty="0"/>
              <a:t>Capture &amp; Label:</a:t>
            </a:r>
            <a:r>
              <a:rPr lang="en-US" sz="1800" dirty="0"/>
              <a:t> Riders capture road images and label conditions (Excellent / Good / Poor / Very Poor).</a:t>
            </a:r>
          </a:p>
          <a:p>
            <a:r>
              <a:rPr lang="en-US" sz="1800" b="1" dirty="0"/>
              <a:t>Geo-tagging:</a:t>
            </a:r>
            <a:r>
              <a:rPr lang="en-US" sz="1800" dirty="0"/>
              <a:t> GPS coordinates and timestamps are automatically attached.</a:t>
            </a:r>
          </a:p>
          <a:p>
            <a:r>
              <a:rPr lang="en-US" sz="1800" b="1" dirty="0"/>
              <a:t>Upload &amp; Storage:</a:t>
            </a:r>
            <a:r>
              <a:rPr lang="en-US" sz="1800" dirty="0"/>
              <a:t> Data is uploaded to the cloud (MySQL) for validation and analysis.</a:t>
            </a:r>
          </a:p>
        </p:txBody>
      </p:sp>
      <p:sp>
        <p:nvSpPr>
          <p:cNvPr id="4" name="Slide Number Placeholder 3">
            <a:extLst>
              <a:ext uri="{FF2B5EF4-FFF2-40B4-BE49-F238E27FC236}">
                <a16:creationId xmlns:a16="http://schemas.microsoft.com/office/drawing/2014/main" id="{A43645F0-F6A2-4A26-AA97-DC525D7D4AD0}"/>
              </a:ext>
            </a:extLst>
          </p:cNvPr>
          <p:cNvSpPr>
            <a:spLocks noGrp="1"/>
          </p:cNvSpPr>
          <p:nvPr>
            <p:ph type="sldNum" sz="quarter" idx="12"/>
          </p:nvPr>
        </p:nvSpPr>
        <p:spPr/>
        <p:txBody>
          <a:bodyPr/>
          <a:lstStyle/>
          <a:p>
            <a:fld id="{467E6174-F508-4684-B91E-FB2DFBEFD211}" type="slidenum">
              <a:rPr lang="en-US" smtClean="0"/>
              <a:pPr/>
              <a:t>11</a:t>
            </a:fld>
            <a:endParaRPr lang="en-US" dirty="0"/>
          </a:p>
        </p:txBody>
      </p:sp>
      <p:sp>
        <p:nvSpPr>
          <p:cNvPr id="5" name="Footer Placeholder 4">
            <a:extLst>
              <a:ext uri="{FF2B5EF4-FFF2-40B4-BE49-F238E27FC236}">
                <a16:creationId xmlns:a16="http://schemas.microsoft.com/office/drawing/2014/main" id="{8AA7E311-F4AF-4E12-B3D7-AF377C9E20B4}"/>
              </a:ext>
            </a:extLst>
          </p:cNvPr>
          <p:cNvSpPr>
            <a:spLocks noGrp="1"/>
          </p:cNvSpPr>
          <p:nvPr>
            <p:ph type="ftr" sz="quarter" idx="11"/>
          </p:nvPr>
        </p:nvSpPr>
        <p:spPr>
          <a:xfrm>
            <a:off x="0" y="6168147"/>
            <a:ext cx="10578353" cy="545823"/>
          </a:xfrm>
        </p:spPr>
        <p:txBody>
          <a:bodyPr/>
          <a:lstStyle/>
          <a:p>
            <a:r>
              <a:rPr lang="en-US" sz="1400" dirty="0">
                <a:solidFill>
                  <a:schemeClr val="accent1">
                    <a:lumMod val="75000"/>
                  </a:schemeClr>
                </a:solidFill>
              </a:rPr>
              <a:t>IEEE International Conference on Robotics, Automation, Artificial-Intelligence and Internet-of-Things 2025</a:t>
            </a:r>
          </a:p>
        </p:txBody>
      </p:sp>
      <p:pic>
        <p:nvPicPr>
          <p:cNvPr id="8" name="Picture 7">
            <a:extLst>
              <a:ext uri="{FF2B5EF4-FFF2-40B4-BE49-F238E27FC236}">
                <a16:creationId xmlns:a16="http://schemas.microsoft.com/office/drawing/2014/main" id="{9078C339-AD53-4E41-A29F-73CC45DACB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3012" y="1544382"/>
            <a:ext cx="2563906" cy="4486834"/>
          </a:xfrm>
          <a:prstGeom prst="rect">
            <a:avLst/>
          </a:prstGeom>
        </p:spPr>
      </p:pic>
      <p:pic>
        <p:nvPicPr>
          <p:cNvPr id="9" name="Picture 8">
            <a:extLst>
              <a:ext uri="{FF2B5EF4-FFF2-40B4-BE49-F238E27FC236}">
                <a16:creationId xmlns:a16="http://schemas.microsoft.com/office/drawing/2014/main" id="{C504C883-C489-4F5C-98EE-585C9B06EB2B}"/>
              </a:ext>
            </a:extLst>
          </p:cNvPr>
          <p:cNvPicPr>
            <a:picLocks noChangeAspect="1"/>
          </p:cNvPicPr>
          <p:nvPr/>
        </p:nvPicPr>
        <p:blipFill>
          <a:blip r:embed="rId3"/>
          <a:stretch>
            <a:fillRect/>
          </a:stretch>
        </p:blipFill>
        <p:spPr>
          <a:xfrm>
            <a:off x="1863369" y="3932908"/>
            <a:ext cx="4260814" cy="2095710"/>
          </a:xfrm>
          <a:prstGeom prst="rect">
            <a:avLst/>
          </a:prstGeom>
        </p:spPr>
      </p:pic>
    </p:spTree>
    <p:extLst>
      <p:ext uri="{BB962C8B-B14F-4D97-AF65-F5344CB8AC3E}">
        <p14:creationId xmlns:p14="http://schemas.microsoft.com/office/powerpoint/2010/main" val="4269566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BC100-941B-4C16-B9D4-45E045040869}"/>
              </a:ext>
            </a:extLst>
          </p:cNvPr>
          <p:cNvSpPr>
            <a:spLocks noGrp="1"/>
          </p:cNvSpPr>
          <p:nvPr>
            <p:ph type="title"/>
          </p:nvPr>
        </p:nvSpPr>
        <p:spPr>
          <a:xfrm>
            <a:off x="1395586" y="542805"/>
            <a:ext cx="9868937" cy="1067386"/>
          </a:xfrm>
        </p:spPr>
        <p:txBody>
          <a:bodyPr>
            <a:normAutofit/>
          </a:bodyPr>
          <a:lstStyle/>
          <a:p>
            <a:pPr algn="ctr"/>
            <a:r>
              <a:rPr lang="en-US" sz="3600" b="1" dirty="0">
                <a:solidFill>
                  <a:schemeClr val="accent1">
                    <a:lumMod val="50000"/>
                  </a:schemeClr>
                </a:solidFill>
              </a:rPr>
              <a:t>Experimental Results</a:t>
            </a:r>
          </a:p>
        </p:txBody>
      </p:sp>
      <p:sp>
        <p:nvSpPr>
          <p:cNvPr id="4" name="Slide Number Placeholder 3">
            <a:extLst>
              <a:ext uri="{FF2B5EF4-FFF2-40B4-BE49-F238E27FC236}">
                <a16:creationId xmlns:a16="http://schemas.microsoft.com/office/drawing/2014/main" id="{3CA39EE3-41D7-44ED-AFE2-CE0EF4F1923C}"/>
              </a:ext>
            </a:extLst>
          </p:cNvPr>
          <p:cNvSpPr>
            <a:spLocks noGrp="1"/>
          </p:cNvSpPr>
          <p:nvPr>
            <p:ph type="sldNum" sz="quarter" idx="12"/>
          </p:nvPr>
        </p:nvSpPr>
        <p:spPr/>
        <p:txBody>
          <a:bodyPr/>
          <a:lstStyle/>
          <a:p>
            <a:fld id="{467E6174-F508-4684-B91E-FB2DFBEFD211}" type="slidenum">
              <a:rPr lang="en-US" smtClean="0"/>
              <a:pPr/>
              <a:t>12</a:t>
            </a:fld>
            <a:endParaRPr lang="en-US" dirty="0"/>
          </a:p>
        </p:txBody>
      </p:sp>
      <p:sp>
        <p:nvSpPr>
          <p:cNvPr id="5" name="Footer Placeholder 4">
            <a:extLst>
              <a:ext uri="{FF2B5EF4-FFF2-40B4-BE49-F238E27FC236}">
                <a16:creationId xmlns:a16="http://schemas.microsoft.com/office/drawing/2014/main" id="{5766C075-9ECD-42F3-A7D8-9007B64BE033}"/>
              </a:ext>
            </a:extLst>
          </p:cNvPr>
          <p:cNvSpPr>
            <a:spLocks noGrp="1"/>
          </p:cNvSpPr>
          <p:nvPr>
            <p:ph type="ftr" sz="quarter" idx="11"/>
          </p:nvPr>
        </p:nvSpPr>
        <p:spPr>
          <a:xfrm>
            <a:off x="376518" y="6347759"/>
            <a:ext cx="10073229" cy="365125"/>
          </a:xfrm>
        </p:spPr>
        <p:txBody>
          <a:bodyPr/>
          <a:lstStyle/>
          <a:p>
            <a:r>
              <a:rPr lang="en-US" sz="1400" dirty="0">
                <a:solidFill>
                  <a:schemeClr val="accent1">
                    <a:lumMod val="50000"/>
                  </a:schemeClr>
                </a:solidFill>
              </a:rPr>
              <a:t>IEEE International Conference on Robotics, Automation, Artificial-Intelligence and Internet-of-Things 2025</a:t>
            </a:r>
          </a:p>
        </p:txBody>
      </p:sp>
      <p:sp>
        <p:nvSpPr>
          <p:cNvPr id="6" name="Rectangle 1">
            <a:extLst>
              <a:ext uri="{FF2B5EF4-FFF2-40B4-BE49-F238E27FC236}">
                <a16:creationId xmlns:a16="http://schemas.microsoft.com/office/drawing/2014/main" id="{5BAE0E8E-CC84-4A7E-8CF9-C0BFA27443D6}"/>
              </a:ext>
            </a:extLst>
          </p:cNvPr>
          <p:cNvSpPr>
            <a:spLocks noGrp="1" noChangeArrowheads="1"/>
          </p:cNvSpPr>
          <p:nvPr>
            <p:ph idx="1"/>
          </p:nvPr>
        </p:nvSpPr>
        <p:spPr bwMode="auto">
          <a:xfrm>
            <a:off x="376518" y="1330567"/>
            <a:ext cx="797858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MQ3 Alcohol Sensor Test (Table II):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Engine remains ON below 200 ppm.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Above 200 ppm </a:t>
            </a:r>
            <a:r>
              <a:rPr kumimoji="0" lang="en-US" altLang="en-US" sz="1800" i="0" u="none" strike="noStrike" cap="none" normalizeH="0" baseline="0" dirty="0">
                <a:ln>
                  <a:noFill/>
                </a:ln>
                <a:solidFill>
                  <a:schemeClr val="tx1"/>
                </a:solidFill>
                <a:effectLst/>
                <a:latin typeface="Arial" panose="020B0604020202020204" pitchFamily="34" charset="0"/>
              </a:rPr>
              <a:t>→ Engine stops + alarm activates</a:t>
            </a:r>
            <a:r>
              <a:rPr kumimoji="0" lang="en-US" altLang="en-US" sz="18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Speed Sensor Test (Table III):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Normal operation below 70 km/h.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Overspeed warning </a:t>
            </a:r>
            <a:r>
              <a:rPr kumimoji="0" lang="en-US" altLang="en-US" sz="1800" b="0" i="0" u="none" strike="noStrike" cap="none" normalizeH="0" baseline="0" dirty="0">
                <a:ln>
                  <a:noFill/>
                </a:ln>
                <a:solidFill>
                  <a:schemeClr val="tx1"/>
                </a:solidFill>
                <a:effectLst/>
                <a:latin typeface="Arial" panose="020B0604020202020204" pitchFamily="34" charset="0"/>
              </a:rPr>
              <a:t>triggered beyond 70 km/h.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System Validation: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Consistent accuracy in detecting alcohol level and speed threshold.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response verified through prototype testing.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Graphical Results (Figs. 7):</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Speed vs Time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i="0" u="none" strike="noStrike" cap="none" normalizeH="0" baseline="0" dirty="0">
                <a:ln>
                  <a:noFill/>
                </a:ln>
                <a:solidFill>
                  <a:schemeClr val="tx1"/>
                </a:solidFill>
                <a:effectLst/>
                <a:latin typeface="Arial" panose="020B0604020202020204" pitchFamily="34" charset="0"/>
              </a:rPr>
              <a:t>Temperature vs Time </a:t>
            </a:r>
            <a:r>
              <a:rPr kumimoji="0" lang="en-US" altLang="en-US" sz="1800" b="0" i="0" u="none" strike="noStrike" cap="none" normalizeH="0" baseline="0" dirty="0">
                <a:ln>
                  <a:noFill/>
                </a:ln>
                <a:solidFill>
                  <a:schemeClr val="tx1"/>
                </a:solidFill>
                <a:effectLst/>
                <a:latin typeface="Arial" panose="020B0604020202020204" pitchFamily="34" charset="0"/>
              </a:rPr>
              <a:t>show live data monitoring through web  and mobile dashboards.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3E42750E-8251-479A-A589-BD178B888382}"/>
              </a:ext>
            </a:extLst>
          </p:cNvPr>
          <p:cNvPicPr>
            <a:picLocks noChangeAspect="1"/>
          </p:cNvPicPr>
          <p:nvPr/>
        </p:nvPicPr>
        <p:blipFill>
          <a:blip r:embed="rId2"/>
          <a:stretch>
            <a:fillRect/>
          </a:stretch>
        </p:blipFill>
        <p:spPr>
          <a:xfrm>
            <a:off x="8070231" y="1330567"/>
            <a:ext cx="3194292" cy="1543381"/>
          </a:xfrm>
          <a:prstGeom prst="rect">
            <a:avLst/>
          </a:prstGeom>
        </p:spPr>
      </p:pic>
      <p:pic>
        <p:nvPicPr>
          <p:cNvPr id="8" name="Picture 7">
            <a:extLst>
              <a:ext uri="{FF2B5EF4-FFF2-40B4-BE49-F238E27FC236}">
                <a16:creationId xmlns:a16="http://schemas.microsoft.com/office/drawing/2014/main" id="{6A376580-198F-43C2-B15B-7ED3186F95E5}"/>
              </a:ext>
            </a:extLst>
          </p:cNvPr>
          <p:cNvPicPr>
            <a:picLocks noChangeAspect="1"/>
          </p:cNvPicPr>
          <p:nvPr/>
        </p:nvPicPr>
        <p:blipFill>
          <a:blip r:embed="rId3"/>
          <a:stretch>
            <a:fillRect/>
          </a:stretch>
        </p:blipFill>
        <p:spPr>
          <a:xfrm>
            <a:off x="8070231" y="3134830"/>
            <a:ext cx="3194292" cy="1711838"/>
          </a:xfrm>
          <a:prstGeom prst="rect">
            <a:avLst/>
          </a:prstGeom>
        </p:spPr>
      </p:pic>
    </p:spTree>
    <p:extLst>
      <p:ext uri="{BB962C8B-B14F-4D97-AF65-F5344CB8AC3E}">
        <p14:creationId xmlns:p14="http://schemas.microsoft.com/office/powerpoint/2010/main" val="2310757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B15D-E41A-4C2E-AA08-BAF67C4A8C5F}"/>
              </a:ext>
            </a:extLst>
          </p:cNvPr>
          <p:cNvSpPr>
            <a:spLocks noGrp="1"/>
          </p:cNvSpPr>
          <p:nvPr>
            <p:ph type="title"/>
          </p:nvPr>
        </p:nvSpPr>
        <p:spPr>
          <a:xfrm>
            <a:off x="1484862" y="546893"/>
            <a:ext cx="9868937" cy="1067386"/>
          </a:xfrm>
        </p:spPr>
        <p:txBody>
          <a:bodyPr>
            <a:normAutofit/>
          </a:bodyPr>
          <a:lstStyle/>
          <a:p>
            <a:pPr algn="ctr"/>
            <a:r>
              <a:rPr lang="en-US" sz="3600" b="1" dirty="0">
                <a:solidFill>
                  <a:schemeClr val="accent1">
                    <a:lumMod val="50000"/>
                  </a:schemeClr>
                </a:solidFill>
              </a:rPr>
              <a:t>System Validation</a:t>
            </a:r>
          </a:p>
        </p:txBody>
      </p:sp>
      <p:sp>
        <p:nvSpPr>
          <p:cNvPr id="4" name="Slide Number Placeholder 3">
            <a:extLst>
              <a:ext uri="{FF2B5EF4-FFF2-40B4-BE49-F238E27FC236}">
                <a16:creationId xmlns:a16="http://schemas.microsoft.com/office/drawing/2014/main" id="{B57E5D2A-6981-4D3B-B0DF-CD9BA7FB82F2}"/>
              </a:ext>
            </a:extLst>
          </p:cNvPr>
          <p:cNvSpPr>
            <a:spLocks noGrp="1"/>
          </p:cNvSpPr>
          <p:nvPr>
            <p:ph type="sldNum" sz="quarter" idx="12"/>
          </p:nvPr>
        </p:nvSpPr>
        <p:spPr/>
        <p:txBody>
          <a:bodyPr/>
          <a:lstStyle/>
          <a:p>
            <a:fld id="{467E6174-F508-4684-B91E-FB2DFBEFD211}" type="slidenum">
              <a:rPr lang="en-US" smtClean="0"/>
              <a:pPr/>
              <a:t>13</a:t>
            </a:fld>
            <a:endParaRPr lang="en-US" dirty="0"/>
          </a:p>
        </p:txBody>
      </p:sp>
      <p:sp>
        <p:nvSpPr>
          <p:cNvPr id="5" name="Footer Placeholder 4">
            <a:extLst>
              <a:ext uri="{FF2B5EF4-FFF2-40B4-BE49-F238E27FC236}">
                <a16:creationId xmlns:a16="http://schemas.microsoft.com/office/drawing/2014/main" id="{7052D11E-2006-4695-BAD1-BFAE1A95DB53}"/>
              </a:ext>
            </a:extLst>
          </p:cNvPr>
          <p:cNvSpPr>
            <a:spLocks noGrp="1"/>
          </p:cNvSpPr>
          <p:nvPr>
            <p:ph type="ftr" sz="quarter" idx="11"/>
          </p:nvPr>
        </p:nvSpPr>
        <p:spPr>
          <a:xfrm>
            <a:off x="174813" y="6311107"/>
            <a:ext cx="9584652" cy="365125"/>
          </a:xfrm>
        </p:spPr>
        <p:txBody>
          <a:bodyPr/>
          <a:lstStyle/>
          <a:p>
            <a:r>
              <a:rPr lang="en-US" sz="1400" b="1" dirty="0">
                <a:solidFill>
                  <a:schemeClr val="accent1">
                    <a:lumMod val="50000"/>
                  </a:schemeClr>
                </a:solidFill>
              </a:rPr>
              <a:t>IEEE International Conference on Robotics, Automation, Artificial-Intelligence and Internet-of-Things 2025</a:t>
            </a:r>
          </a:p>
        </p:txBody>
      </p:sp>
      <p:sp>
        <p:nvSpPr>
          <p:cNvPr id="6" name="Rectangle 1">
            <a:extLst>
              <a:ext uri="{FF2B5EF4-FFF2-40B4-BE49-F238E27FC236}">
                <a16:creationId xmlns:a16="http://schemas.microsoft.com/office/drawing/2014/main" id="{831F187A-A949-4952-AC4D-C6326C40674D}"/>
              </a:ext>
            </a:extLst>
          </p:cNvPr>
          <p:cNvSpPr>
            <a:spLocks noGrp="1" noChangeArrowheads="1"/>
          </p:cNvSpPr>
          <p:nvPr>
            <p:ph idx="1"/>
          </p:nvPr>
        </p:nvSpPr>
        <p:spPr bwMode="auto">
          <a:xfrm>
            <a:off x="264460" y="1460102"/>
            <a:ext cx="723899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Accuracy Comparison (Table IV):</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Device readings closely match real-world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Achieved </a:t>
            </a:r>
            <a:r>
              <a:rPr kumimoji="0" lang="en-US" altLang="en-US" sz="1800" b="1" i="0" u="none" strike="noStrike" cap="none" normalizeH="0" baseline="0" dirty="0">
                <a:ln>
                  <a:noFill/>
                </a:ln>
                <a:solidFill>
                  <a:schemeClr val="tx1"/>
                </a:solidFill>
                <a:effectLst/>
              </a:rPr>
              <a:t>98–99% accuracy</a:t>
            </a:r>
            <a:r>
              <a:rPr kumimoji="0" lang="en-US" altLang="en-US" sz="1800" b="0" i="0" u="none" strike="noStrike" cap="none" normalizeH="0" baseline="0" dirty="0">
                <a:ln>
                  <a:noFill/>
                </a:ln>
                <a:solidFill>
                  <a:schemeClr val="tx1"/>
                </a:solidFill>
                <a:effectLst/>
              </a:rPr>
              <a:t> across helmet wear, alcohol, drowsiness, speed, and weather detection.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Performance Metrics (Table V):</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SafeRide</a:t>
            </a:r>
            <a:r>
              <a:rPr kumimoji="0" lang="en-US" altLang="en-US" sz="1800" b="0" i="0" u="none" strike="noStrike" cap="none" normalizeH="0" baseline="0" dirty="0">
                <a:ln>
                  <a:noFill/>
                </a:ln>
                <a:solidFill>
                  <a:schemeClr val="tx1"/>
                </a:solidFill>
                <a:effectLst/>
              </a:rPr>
              <a:t> significantly outperforms existing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Faster response time (Emergency SMS latency reduced to ~5.5s).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Key Highlights: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Helmet detection F1-Score: </a:t>
            </a:r>
            <a:r>
              <a:rPr kumimoji="0" lang="en-US" altLang="en-US" sz="1800" b="1" i="0" u="none" strike="noStrike" cap="none" normalizeH="0" baseline="0" dirty="0">
                <a:ln>
                  <a:noFill/>
                </a:ln>
                <a:solidFill>
                  <a:schemeClr val="tx1"/>
                </a:solidFill>
                <a:effectLst/>
              </a:rPr>
              <a:t>0.96 ± 0.02</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Alcohol detection AUC-ROC: </a:t>
            </a:r>
            <a:r>
              <a:rPr kumimoji="0" lang="en-US" altLang="en-US" sz="1800" b="1" i="0" u="none" strike="noStrike" cap="none" normalizeH="0" baseline="0" dirty="0">
                <a:ln>
                  <a:noFill/>
                </a:ln>
                <a:solidFill>
                  <a:schemeClr val="tx1"/>
                </a:solidFill>
                <a:effectLst/>
              </a:rPr>
              <a:t>0.98</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Fall detection recall: </a:t>
            </a:r>
            <a:r>
              <a:rPr kumimoji="0" lang="en-US" altLang="en-US" sz="1800" b="1" i="0" u="none" strike="noStrike" cap="none" normalizeH="0" baseline="0" dirty="0">
                <a:ln>
                  <a:noFill/>
                </a:ln>
                <a:solidFill>
                  <a:schemeClr val="tx1"/>
                </a:solidFill>
                <a:effectLst/>
              </a:rPr>
              <a:t>97 ± 1.5%</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Ignition interlock success: </a:t>
            </a:r>
            <a:r>
              <a:rPr kumimoji="0" lang="en-US" altLang="en-US" sz="1800" b="1" i="0" u="none" strike="noStrike" cap="none" normalizeH="0" baseline="0" dirty="0">
                <a:ln>
                  <a:noFill/>
                </a:ln>
                <a:solidFill>
                  <a:schemeClr val="tx1"/>
                </a:solidFill>
                <a:effectLst/>
              </a:rPr>
              <a:t>99.5%</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BE79E10-6DEA-4598-B0FF-5E1343407265}"/>
              </a:ext>
            </a:extLst>
          </p:cNvPr>
          <p:cNvPicPr>
            <a:picLocks noChangeAspect="1"/>
          </p:cNvPicPr>
          <p:nvPr/>
        </p:nvPicPr>
        <p:blipFill>
          <a:blip r:embed="rId2"/>
          <a:stretch>
            <a:fillRect/>
          </a:stretch>
        </p:blipFill>
        <p:spPr>
          <a:xfrm>
            <a:off x="7149326" y="2285637"/>
            <a:ext cx="4778214" cy="2002750"/>
          </a:xfrm>
          <a:prstGeom prst="rect">
            <a:avLst/>
          </a:prstGeom>
        </p:spPr>
      </p:pic>
    </p:spTree>
    <p:extLst>
      <p:ext uri="{BB962C8B-B14F-4D97-AF65-F5344CB8AC3E}">
        <p14:creationId xmlns:p14="http://schemas.microsoft.com/office/powerpoint/2010/main" val="3025381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A27D-1FDF-4EB8-890D-E097D934BD5D}"/>
              </a:ext>
            </a:extLst>
          </p:cNvPr>
          <p:cNvSpPr>
            <a:spLocks noGrp="1"/>
          </p:cNvSpPr>
          <p:nvPr>
            <p:ph type="title"/>
          </p:nvPr>
        </p:nvSpPr>
        <p:spPr>
          <a:xfrm>
            <a:off x="1484861" y="616375"/>
            <a:ext cx="9868937" cy="1067386"/>
          </a:xfrm>
        </p:spPr>
        <p:txBody>
          <a:bodyPr>
            <a:normAutofit/>
          </a:bodyPr>
          <a:lstStyle/>
          <a:p>
            <a:pPr algn="ctr"/>
            <a:r>
              <a:rPr lang="en-US" sz="3600" b="1" dirty="0">
                <a:solidFill>
                  <a:schemeClr val="accent1">
                    <a:lumMod val="50000"/>
                  </a:schemeClr>
                </a:solidFill>
              </a:rPr>
              <a:t>Road-Condition Dataset</a:t>
            </a:r>
          </a:p>
        </p:txBody>
      </p:sp>
      <p:sp>
        <p:nvSpPr>
          <p:cNvPr id="3" name="Content Placeholder 2">
            <a:extLst>
              <a:ext uri="{FF2B5EF4-FFF2-40B4-BE49-F238E27FC236}">
                <a16:creationId xmlns:a16="http://schemas.microsoft.com/office/drawing/2014/main" id="{59460079-B737-4AF4-9DEC-29D6BBA0F884}"/>
              </a:ext>
            </a:extLst>
          </p:cNvPr>
          <p:cNvSpPr>
            <a:spLocks noGrp="1"/>
          </p:cNvSpPr>
          <p:nvPr>
            <p:ph idx="1"/>
          </p:nvPr>
        </p:nvSpPr>
        <p:spPr>
          <a:xfrm>
            <a:off x="453921" y="1683761"/>
            <a:ext cx="5973773" cy="4351338"/>
          </a:xfrm>
        </p:spPr>
        <p:txBody>
          <a:bodyPr>
            <a:normAutofit/>
          </a:bodyPr>
          <a:lstStyle/>
          <a:p>
            <a:r>
              <a:rPr lang="en-US" sz="1800" b="1" dirty="0"/>
              <a:t>Dataset Name:</a:t>
            </a:r>
            <a:r>
              <a:rPr lang="en-US" sz="1800" dirty="0"/>
              <a:t> SafeRide Dataset </a:t>
            </a:r>
            <a:r>
              <a:rPr lang="en-US" sz="1800" i="1" dirty="0"/>
              <a:t>(available on Kaggle)</a:t>
            </a:r>
          </a:p>
          <a:p>
            <a:r>
              <a:rPr lang="en-US" sz="1800" b="1" dirty="0"/>
              <a:t>Source:</a:t>
            </a:r>
            <a:r>
              <a:rPr lang="en-US" sz="1800" dirty="0"/>
              <a:t> Crowdsourced road-condition data from riders across Bangladesh.</a:t>
            </a:r>
          </a:p>
          <a:p>
            <a:r>
              <a:rPr lang="en-US" sz="1800" b="1" dirty="0"/>
              <a:t>Entries Collected:</a:t>
            </a:r>
            <a:r>
              <a:rPr lang="en-US" sz="1800" dirty="0"/>
              <a:t> </a:t>
            </a:r>
            <a:r>
              <a:rPr lang="en-US" sz="1800" b="1" dirty="0"/>
              <a:t>166 records</a:t>
            </a:r>
            <a:r>
              <a:rPr lang="en-US" sz="1800" dirty="0"/>
              <a:t> in pilot deployment.</a:t>
            </a:r>
          </a:p>
          <a:p>
            <a:r>
              <a:rPr lang="en-US" sz="1800" b="1" dirty="0"/>
              <a:t>Categories:</a:t>
            </a:r>
            <a:r>
              <a:rPr lang="en-US" sz="1800" dirty="0"/>
              <a:t> Excellent, Good ,Poor , Very Poor</a:t>
            </a:r>
          </a:p>
          <a:p>
            <a:r>
              <a:rPr lang="en-US" sz="1800" b="1" dirty="0"/>
              <a:t>Features:</a:t>
            </a:r>
            <a:r>
              <a:rPr lang="en-US" sz="1800" dirty="0"/>
              <a:t> Each record includes GPS coordinates, timestamp, and image label.</a:t>
            </a:r>
          </a:p>
          <a:p>
            <a:r>
              <a:rPr lang="en-US" sz="1800" b="1" dirty="0"/>
              <a:t>Purpose:</a:t>
            </a:r>
            <a:r>
              <a:rPr lang="en-US" sz="1800" dirty="0"/>
              <a:t> Supports ML model training for real-time road-condition prediction and community hazard awareness.</a:t>
            </a:r>
          </a:p>
          <a:p>
            <a:endParaRPr lang="en-US" dirty="0"/>
          </a:p>
        </p:txBody>
      </p:sp>
      <p:sp>
        <p:nvSpPr>
          <p:cNvPr id="4" name="Slide Number Placeholder 3">
            <a:extLst>
              <a:ext uri="{FF2B5EF4-FFF2-40B4-BE49-F238E27FC236}">
                <a16:creationId xmlns:a16="http://schemas.microsoft.com/office/drawing/2014/main" id="{89DF622A-2A15-4253-B388-9F67F8A79276}"/>
              </a:ext>
            </a:extLst>
          </p:cNvPr>
          <p:cNvSpPr>
            <a:spLocks noGrp="1"/>
          </p:cNvSpPr>
          <p:nvPr>
            <p:ph type="sldNum" sz="quarter" idx="12"/>
          </p:nvPr>
        </p:nvSpPr>
        <p:spPr/>
        <p:txBody>
          <a:bodyPr/>
          <a:lstStyle/>
          <a:p>
            <a:fld id="{467E6174-F508-4684-B91E-FB2DFBEFD211}" type="slidenum">
              <a:rPr lang="en-US" smtClean="0"/>
              <a:pPr/>
              <a:t>14</a:t>
            </a:fld>
            <a:endParaRPr lang="en-US" dirty="0"/>
          </a:p>
        </p:txBody>
      </p:sp>
      <p:sp>
        <p:nvSpPr>
          <p:cNvPr id="5" name="Footer Placeholder 4">
            <a:extLst>
              <a:ext uri="{FF2B5EF4-FFF2-40B4-BE49-F238E27FC236}">
                <a16:creationId xmlns:a16="http://schemas.microsoft.com/office/drawing/2014/main" id="{1818D94D-B231-44CF-86E6-435501946CB5}"/>
              </a:ext>
            </a:extLst>
          </p:cNvPr>
          <p:cNvSpPr>
            <a:spLocks noGrp="1"/>
          </p:cNvSpPr>
          <p:nvPr>
            <p:ph type="ftr" sz="quarter" idx="11"/>
          </p:nvPr>
        </p:nvSpPr>
        <p:spPr>
          <a:xfrm>
            <a:off x="188260" y="6348845"/>
            <a:ext cx="10234594" cy="365125"/>
          </a:xfrm>
        </p:spPr>
        <p:txBody>
          <a:bodyPr/>
          <a:lstStyle/>
          <a:p>
            <a:r>
              <a:rPr lang="en-US" sz="1400" b="1" dirty="0">
                <a:solidFill>
                  <a:schemeClr val="accent1">
                    <a:lumMod val="50000"/>
                  </a:schemeClr>
                </a:solidFill>
              </a:rPr>
              <a:t>IEEE International Conference on Robotics, Automation, Artificial-Intelligence and Internet-of-Things 2025</a:t>
            </a:r>
          </a:p>
        </p:txBody>
      </p:sp>
      <p:pic>
        <p:nvPicPr>
          <p:cNvPr id="11" name="Picture 10">
            <a:extLst>
              <a:ext uri="{FF2B5EF4-FFF2-40B4-BE49-F238E27FC236}">
                <a16:creationId xmlns:a16="http://schemas.microsoft.com/office/drawing/2014/main" id="{5F37736F-0831-450F-AB4F-222BDD6EA7A7}"/>
              </a:ext>
            </a:extLst>
          </p:cNvPr>
          <p:cNvPicPr>
            <a:picLocks noChangeAspect="1"/>
          </p:cNvPicPr>
          <p:nvPr/>
        </p:nvPicPr>
        <p:blipFill>
          <a:blip r:embed="rId2"/>
          <a:stretch>
            <a:fillRect/>
          </a:stretch>
        </p:blipFill>
        <p:spPr>
          <a:xfrm>
            <a:off x="6338047" y="1683761"/>
            <a:ext cx="5257798" cy="3014750"/>
          </a:xfrm>
          <a:prstGeom prst="rect">
            <a:avLst/>
          </a:prstGeom>
        </p:spPr>
      </p:pic>
    </p:spTree>
    <p:extLst>
      <p:ext uri="{BB962C8B-B14F-4D97-AF65-F5344CB8AC3E}">
        <p14:creationId xmlns:p14="http://schemas.microsoft.com/office/powerpoint/2010/main" val="3273132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2DFE0-1C49-4214-B110-6F23D70A3ED1}"/>
              </a:ext>
            </a:extLst>
          </p:cNvPr>
          <p:cNvSpPr>
            <a:spLocks noGrp="1"/>
          </p:cNvSpPr>
          <p:nvPr>
            <p:ph type="title"/>
          </p:nvPr>
        </p:nvSpPr>
        <p:spPr>
          <a:xfrm>
            <a:off x="1484861" y="697358"/>
            <a:ext cx="9868937" cy="1067386"/>
          </a:xfrm>
        </p:spPr>
        <p:txBody>
          <a:bodyPr>
            <a:normAutofit/>
          </a:bodyPr>
          <a:lstStyle/>
          <a:p>
            <a:pPr algn="ctr"/>
            <a:r>
              <a:rPr lang="en-US" sz="3600" b="1" dirty="0">
                <a:solidFill>
                  <a:schemeClr val="accent1">
                    <a:lumMod val="50000"/>
                  </a:schemeClr>
                </a:solidFill>
              </a:rPr>
              <a:t>Comparative Analysis With Existing System</a:t>
            </a:r>
          </a:p>
        </p:txBody>
      </p:sp>
      <p:sp>
        <p:nvSpPr>
          <p:cNvPr id="4" name="Slide Number Placeholder 3">
            <a:extLst>
              <a:ext uri="{FF2B5EF4-FFF2-40B4-BE49-F238E27FC236}">
                <a16:creationId xmlns:a16="http://schemas.microsoft.com/office/drawing/2014/main" id="{B6A722D3-CB2A-4B85-82E0-5A891D4D2E3E}"/>
              </a:ext>
            </a:extLst>
          </p:cNvPr>
          <p:cNvSpPr>
            <a:spLocks noGrp="1"/>
          </p:cNvSpPr>
          <p:nvPr>
            <p:ph type="sldNum" sz="quarter" idx="12"/>
          </p:nvPr>
        </p:nvSpPr>
        <p:spPr/>
        <p:txBody>
          <a:bodyPr/>
          <a:lstStyle/>
          <a:p>
            <a:fld id="{467E6174-F508-4684-B91E-FB2DFBEFD211}" type="slidenum">
              <a:rPr lang="en-US" smtClean="0"/>
              <a:pPr/>
              <a:t>15</a:t>
            </a:fld>
            <a:endParaRPr lang="en-US" dirty="0"/>
          </a:p>
        </p:txBody>
      </p:sp>
      <p:sp>
        <p:nvSpPr>
          <p:cNvPr id="5" name="Footer Placeholder 4">
            <a:extLst>
              <a:ext uri="{FF2B5EF4-FFF2-40B4-BE49-F238E27FC236}">
                <a16:creationId xmlns:a16="http://schemas.microsoft.com/office/drawing/2014/main" id="{BDABF699-B9A6-4B94-A987-7A3656FC2519}"/>
              </a:ext>
            </a:extLst>
          </p:cNvPr>
          <p:cNvSpPr>
            <a:spLocks noGrp="1"/>
          </p:cNvSpPr>
          <p:nvPr>
            <p:ph type="ftr" sz="quarter" idx="11"/>
          </p:nvPr>
        </p:nvSpPr>
        <p:spPr>
          <a:xfrm>
            <a:off x="206189" y="6347759"/>
            <a:ext cx="10073229" cy="365125"/>
          </a:xfrm>
        </p:spPr>
        <p:txBody>
          <a:bodyPr/>
          <a:lstStyle/>
          <a:p>
            <a:r>
              <a:rPr lang="en-US" sz="1400" b="1" dirty="0">
                <a:solidFill>
                  <a:schemeClr val="accent1">
                    <a:lumMod val="50000"/>
                  </a:schemeClr>
                </a:solidFill>
              </a:rPr>
              <a:t>IEEE International Conference on Robotics, Automation, Artificial-Intelligence and Internet-of-Things 2025</a:t>
            </a:r>
          </a:p>
        </p:txBody>
      </p:sp>
      <p:sp>
        <p:nvSpPr>
          <p:cNvPr id="6" name="Rectangle 1">
            <a:extLst>
              <a:ext uri="{FF2B5EF4-FFF2-40B4-BE49-F238E27FC236}">
                <a16:creationId xmlns:a16="http://schemas.microsoft.com/office/drawing/2014/main" id="{C0739C60-A196-4AB5-A490-08692661F0B1}"/>
              </a:ext>
            </a:extLst>
          </p:cNvPr>
          <p:cNvSpPr>
            <a:spLocks noGrp="1" noChangeArrowheads="1"/>
          </p:cNvSpPr>
          <p:nvPr>
            <p:ph idx="1"/>
          </p:nvPr>
        </p:nvSpPr>
        <p:spPr bwMode="auto">
          <a:xfrm>
            <a:off x="654424" y="3141052"/>
            <a:ext cx="69566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pic>
        <p:nvPicPr>
          <p:cNvPr id="7" name="Picture 6">
            <a:extLst>
              <a:ext uri="{FF2B5EF4-FFF2-40B4-BE49-F238E27FC236}">
                <a16:creationId xmlns:a16="http://schemas.microsoft.com/office/drawing/2014/main" id="{7DD37FC9-3980-4F14-B063-B09331566E5A}"/>
              </a:ext>
            </a:extLst>
          </p:cNvPr>
          <p:cNvPicPr>
            <a:picLocks noChangeAspect="1"/>
          </p:cNvPicPr>
          <p:nvPr/>
        </p:nvPicPr>
        <p:blipFill>
          <a:blip r:embed="rId2"/>
          <a:stretch>
            <a:fillRect/>
          </a:stretch>
        </p:blipFill>
        <p:spPr>
          <a:xfrm>
            <a:off x="2917510" y="1764744"/>
            <a:ext cx="6540255" cy="4356620"/>
          </a:xfrm>
          <a:prstGeom prst="rect">
            <a:avLst/>
          </a:prstGeom>
        </p:spPr>
      </p:pic>
    </p:spTree>
    <p:extLst>
      <p:ext uri="{BB962C8B-B14F-4D97-AF65-F5344CB8AC3E}">
        <p14:creationId xmlns:p14="http://schemas.microsoft.com/office/powerpoint/2010/main" val="174082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97A85-2DF7-48AF-AD06-81B521AC46DA}"/>
              </a:ext>
            </a:extLst>
          </p:cNvPr>
          <p:cNvSpPr>
            <a:spLocks noGrp="1"/>
          </p:cNvSpPr>
          <p:nvPr>
            <p:ph type="title"/>
          </p:nvPr>
        </p:nvSpPr>
        <p:spPr>
          <a:xfrm>
            <a:off x="1484862" y="616375"/>
            <a:ext cx="9868937" cy="1067386"/>
          </a:xfrm>
        </p:spPr>
        <p:txBody>
          <a:bodyPr>
            <a:normAutofit/>
          </a:bodyPr>
          <a:lstStyle/>
          <a:p>
            <a:pPr algn="ctr"/>
            <a:r>
              <a:rPr lang="en-US" sz="3600" b="1" dirty="0">
                <a:solidFill>
                  <a:schemeClr val="accent1">
                    <a:lumMod val="50000"/>
                  </a:schemeClr>
                </a:solidFill>
              </a:rPr>
              <a:t>Conclusion &amp; Future Work</a:t>
            </a:r>
          </a:p>
        </p:txBody>
      </p:sp>
      <p:sp>
        <p:nvSpPr>
          <p:cNvPr id="3" name="Content Placeholder 2">
            <a:extLst>
              <a:ext uri="{FF2B5EF4-FFF2-40B4-BE49-F238E27FC236}">
                <a16:creationId xmlns:a16="http://schemas.microsoft.com/office/drawing/2014/main" id="{20DBC834-4F5F-47BD-8F4B-049698D65864}"/>
              </a:ext>
            </a:extLst>
          </p:cNvPr>
          <p:cNvSpPr>
            <a:spLocks noGrp="1"/>
          </p:cNvSpPr>
          <p:nvPr>
            <p:ph idx="1"/>
          </p:nvPr>
        </p:nvSpPr>
        <p:spPr>
          <a:xfrm>
            <a:off x="534603" y="1683761"/>
            <a:ext cx="5776550" cy="4351338"/>
          </a:xfrm>
        </p:spPr>
        <p:txBody>
          <a:bodyPr>
            <a:normAutofit/>
          </a:bodyPr>
          <a:lstStyle/>
          <a:p>
            <a:pPr marL="0" indent="0">
              <a:buNone/>
            </a:pPr>
            <a:r>
              <a:rPr lang="en-US" sz="1800" b="1" dirty="0"/>
              <a:t>                                      Conclusion:</a:t>
            </a:r>
          </a:p>
          <a:p>
            <a:pPr marL="0" indent="0">
              <a:buNone/>
            </a:pPr>
            <a:endParaRPr lang="en-US" sz="1800" dirty="0"/>
          </a:p>
          <a:p>
            <a:r>
              <a:rPr lang="en-US" sz="1800" dirty="0"/>
              <a:t>Developed a </a:t>
            </a:r>
            <a:r>
              <a:rPr lang="en-US" sz="1800" b="1" dirty="0"/>
              <a:t>multi-sensor IoT-based smart helmet</a:t>
            </a:r>
            <a:r>
              <a:rPr lang="en-US" sz="1800" dirty="0"/>
              <a:t> for real-time rider safety.</a:t>
            </a:r>
          </a:p>
          <a:p>
            <a:r>
              <a:rPr lang="en-US" sz="1800" dirty="0"/>
              <a:t>Integrates </a:t>
            </a:r>
            <a:r>
              <a:rPr lang="en-US" sz="1800" b="1" dirty="0"/>
              <a:t>alcohol, drowsiness, accident, weather, and road-condition intelligence</a:t>
            </a:r>
            <a:r>
              <a:rPr lang="en-US" sz="1800" dirty="0"/>
              <a:t> into one system.</a:t>
            </a:r>
          </a:p>
          <a:p>
            <a:r>
              <a:rPr lang="en-US" sz="1800" dirty="0"/>
              <a:t>Demonstrated high accuracy (~98–99%) and fast emergency response.</a:t>
            </a:r>
          </a:p>
          <a:p>
            <a:endParaRPr lang="en-US" sz="1800" dirty="0"/>
          </a:p>
        </p:txBody>
      </p:sp>
      <p:sp>
        <p:nvSpPr>
          <p:cNvPr id="4" name="Slide Number Placeholder 3">
            <a:extLst>
              <a:ext uri="{FF2B5EF4-FFF2-40B4-BE49-F238E27FC236}">
                <a16:creationId xmlns:a16="http://schemas.microsoft.com/office/drawing/2014/main" id="{562982BB-3E53-45D5-B9D5-4B8C5313FD73}"/>
              </a:ext>
            </a:extLst>
          </p:cNvPr>
          <p:cNvSpPr>
            <a:spLocks noGrp="1"/>
          </p:cNvSpPr>
          <p:nvPr>
            <p:ph type="sldNum" sz="quarter" idx="12"/>
          </p:nvPr>
        </p:nvSpPr>
        <p:spPr/>
        <p:txBody>
          <a:bodyPr/>
          <a:lstStyle/>
          <a:p>
            <a:fld id="{467E6174-F508-4684-B91E-FB2DFBEFD211}" type="slidenum">
              <a:rPr lang="en-US" smtClean="0"/>
              <a:pPr/>
              <a:t>16</a:t>
            </a:fld>
            <a:endParaRPr lang="en-US" dirty="0"/>
          </a:p>
        </p:txBody>
      </p:sp>
      <p:sp>
        <p:nvSpPr>
          <p:cNvPr id="5" name="Footer Placeholder 4">
            <a:extLst>
              <a:ext uri="{FF2B5EF4-FFF2-40B4-BE49-F238E27FC236}">
                <a16:creationId xmlns:a16="http://schemas.microsoft.com/office/drawing/2014/main" id="{D80F27F7-92C4-4365-8BFC-E9A79B18CFE6}"/>
              </a:ext>
            </a:extLst>
          </p:cNvPr>
          <p:cNvSpPr>
            <a:spLocks noGrp="1"/>
          </p:cNvSpPr>
          <p:nvPr>
            <p:ph type="ftr" sz="quarter" idx="11"/>
          </p:nvPr>
        </p:nvSpPr>
        <p:spPr>
          <a:xfrm>
            <a:off x="277907" y="6356349"/>
            <a:ext cx="9669818" cy="365125"/>
          </a:xfrm>
        </p:spPr>
        <p:txBody>
          <a:bodyPr/>
          <a:lstStyle/>
          <a:p>
            <a:r>
              <a:rPr lang="en-US" sz="1400" b="1" dirty="0">
                <a:solidFill>
                  <a:schemeClr val="accent1">
                    <a:lumMod val="50000"/>
                  </a:schemeClr>
                </a:solidFill>
              </a:rPr>
              <a:t>IEEE International Conference on Robotics, Automation, Artificial-Intelligence and Internet-of-Things 2025</a:t>
            </a:r>
          </a:p>
        </p:txBody>
      </p:sp>
      <p:sp>
        <p:nvSpPr>
          <p:cNvPr id="6" name="Rectangle 5">
            <a:extLst>
              <a:ext uri="{FF2B5EF4-FFF2-40B4-BE49-F238E27FC236}">
                <a16:creationId xmlns:a16="http://schemas.microsoft.com/office/drawing/2014/main" id="{006859EA-2865-4380-9D87-4CA746DA82F6}"/>
              </a:ext>
            </a:extLst>
          </p:cNvPr>
          <p:cNvSpPr/>
          <p:nvPr/>
        </p:nvSpPr>
        <p:spPr>
          <a:xfrm>
            <a:off x="6556478" y="1683761"/>
            <a:ext cx="5276933" cy="2585323"/>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                                  Future Work:</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Nationwide crowdsourced road-condition mapping.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of deep learning and edge AI for faster on-device inference.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Addition of biometric sensors and adaptive voice control.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Expansion toward a smart transportation safety ecosystem.</a:t>
            </a:r>
          </a:p>
        </p:txBody>
      </p:sp>
    </p:spTree>
    <p:extLst>
      <p:ext uri="{BB962C8B-B14F-4D97-AF65-F5344CB8AC3E}">
        <p14:creationId xmlns:p14="http://schemas.microsoft.com/office/powerpoint/2010/main" val="1666551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D43BAE7-734B-436E-AF5D-DC0661CE5CDB}"/>
              </a:ext>
            </a:extLst>
          </p:cNvPr>
          <p:cNvSpPr>
            <a:spLocks noGrp="1"/>
          </p:cNvSpPr>
          <p:nvPr>
            <p:ph type="ftr" sz="quarter" idx="11"/>
          </p:nvPr>
        </p:nvSpPr>
        <p:spPr>
          <a:xfrm>
            <a:off x="241730" y="6365688"/>
            <a:ext cx="9460094" cy="365125"/>
          </a:xfrm>
          <a:prstGeom prst="rect">
            <a:avLst/>
          </a:prstGeom>
        </p:spPr>
        <p:txBody>
          <a:bodyPr/>
          <a:lstStyle/>
          <a:p>
            <a:r>
              <a:rPr lang="en-US" sz="1400" b="1" dirty="0">
                <a:solidFill>
                  <a:schemeClr val="accent1">
                    <a:lumMod val="50000"/>
                  </a:schemeClr>
                </a:solidFill>
              </a:rPr>
              <a:t>IEEE International Conference on Robotics, Automation, Artificial-Intelligence and Internet-of-Things 2025</a:t>
            </a:r>
          </a:p>
        </p:txBody>
      </p:sp>
      <p:sp>
        <p:nvSpPr>
          <p:cNvPr id="5" name="Slide Number Placeholder 4">
            <a:extLst>
              <a:ext uri="{FF2B5EF4-FFF2-40B4-BE49-F238E27FC236}">
                <a16:creationId xmlns:a16="http://schemas.microsoft.com/office/drawing/2014/main" id="{E2812218-5BE2-4006-AA1B-DFE166E7E5CD}"/>
              </a:ext>
            </a:extLst>
          </p:cNvPr>
          <p:cNvSpPr>
            <a:spLocks noGrp="1"/>
          </p:cNvSpPr>
          <p:nvPr>
            <p:ph type="sldNum" sz="quarter" idx="12"/>
          </p:nvPr>
        </p:nvSpPr>
        <p:spPr/>
        <p:txBody>
          <a:bodyPr/>
          <a:lstStyle/>
          <a:p>
            <a:fld id="{467E6174-F508-4684-B91E-FB2DFBEFD211}" type="slidenum">
              <a:rPr lang="en-US" smtClean="0"/>
              <a:pPr/>
              <a:t>17</a:t>
            </a:fld>
            <a:endParaRPr lang="en-US" dirty="0"/>
          </a:p>
        </p:txBody>
      </p:sp>
      <p:sp>
        <p:nvSpPr>
          <p:cNvPr id="7" name="Title 1">
            <a:extLst>
              <a:ext uri="{FF2B5EF4-FFF2-40B4-BE49-F238E27FC236}">
                <a16:creationId xmlns:a16="http://schemas.microsoft.com/office/drawing/2014/main" id="{BB4975C0-49D2-42DC-8646-11A6FDAB3BE6}"/>
              </a:ext>
            </a:extLst>
          </p:cNvPr>
          <p:cNvSpPr>
            <a:spLocks noGrp="1"/>
          </p:cNvSpPr>
          <p:nvPr>
            <p:ph type="title"/>
          </p:nvPr>
        </p:nvSpPr>
        <p:spPr>
          <a:xfrm>
            <a:off x="3264024" y="989722"/>
            <a:ext cx="5663952" cy="706582"/>
          </a:xfrm>
        </p:spPr>
        <p:txBody>
          <a:bodyPr>
            <a:normAutofit/>
          </a:bodyPr>
          <a:lstStyle/>
          <a:p>
            <a:pPr algn="ctr"/>
            <a:r>
              <a:rPr lang="en-US" sz="3600" b="1" dirty="0">
                <a:solidFill>
                  <a:schemeClr val="accent1">
                    <a:lumMod val="50000"/>
                  </a:schemeClr>
                </a:solidFill>
                <a:latin typeface="Times New Roman" panose="02020603050405020304" pitchFamily="18" charset="0"/>
                <a:cs typeface="Times New Roman" panose="02020603050405020304" pitchFamily="18" charset="0"/>
              </a:rPr>
              <a:t>References</a:t>
            </a:r>
          </a:p>
        </p:txBody>
      </p:sp>
      <p:sp>
        <p:nvSpPr>
          <p:cNvPr id="11" name="Rectangle 10">
            <a:extLst>
              <a:ext uri="{FF2B5EF4-FFF2-40B4-BE49-F238E27FC236}">
                <a16:creationId xmlns:a16="http://schemas.microsoft.com/office/drawing/2014/main" id="{77FC035B-C278-4D50-9BBE-CE76F95CF17F}"/>
              </a:ext>
            </a:extLst>
          </p:cNvPr>
          <p:cNvSpPr/>
          <p:nvPr/>
        </p:nvSpPr>
        <p:spPr>
          <a:xfrm>
            <a:off x="510988" y="1819853"/>
            <a:ext cx="11259671" cy="4247317"/>
          </a:xfrm>
          <a:prstGeom prst="rect">
            <a:avLst/>
          </a:prstGeom>
        </p:spPr>
        <p:txBody>
          <a:bodyPr wrap="square">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M. M. Islam et al., </a:t>
            </a:r>
            <a:r>
              <a:rPr lang="en-US" i="1" dirty="0">
                <a:latin typeface="Times New Roman" panose="02020603050405020304" pitchFamily="18" charset="0"/>
                <a:cs typeface="Times New Roman" panose="02020603050405020304" pitchFamily="18" charset="0"/>
              </a:rPr>
              <a:t>“Design and Implementation of a Smart Bike Accident Detection System,”</a:t>
            </a:r>
            <a:r>
              <a:rPr lang="en-US" dirty="0">
                <a:latin typeface="Times New Roman" panose="02020603050405020304" pitchFamily="18" charset="0"/>
                <a:cs typeface="Times New Roman" panose="02020603050405020304" pitchFamily="18" charset="0"/>
              </a:rPr>
              <a:t> IEEE TENSYMP, Dhaka, Bangladesh, 2020.</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 Hu et al., </a:t>
            </a:r>
            <a:r>
              <a:rPr lang="en-US" i="1" dirty="0">
                <a:latin typeface="Times New Roman" panose="02020603050405020304" pitchFamily="18" charset="0"/>
                <a:cs typeface="Times New Roman" panose="02020603050405020304" pitchFamily="18" charset="0"/>
              </a:rPr>
              <a:t>“Design of Vehicle-Based Alcohol Detection System Using IoT,”</a:t>
            </a:r>
            <a:r>
              <a:rPr lang="en-US" dirty="0">
                <a:latin typeface="Times New Roman" panose="02020603050405020304" pitchFamily="18" charset="0"/>
                <a:cs typeface="Times New Roman" panose="02020603050405020304" pitchFamily="18" charset="0"/>
              </a:rPr>
              <a:t> IOP Conf. Ser.: Mater. Sci. Eng., 2018.</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K. Anish et al., </a:t>
            </a:r>
            <a:r>
              <a:rPr lang="en-US" i="1" dirty="0">
                <a:latin typeface="Times New Roman" panose="02020603050405020304" pitchFamily="18" charset="0"/>
                <a:cs typeface="Times New Roman" panose="02020603050405020304" pitchFamily="18" charset="0"/>
              </a:rPr>
              <a:t>“Smart Helmet with Accident Detection Using IoT,”</a:t>
            </a:r>
            <a:r>
              <a:rPr lang="en-US" dirty="0">
                <a:latin typeface="Times New Roman" panose="02020603050405020304" pitchFamily="18" charset="0"/>
                <a:cs typeface="Times New Roman" panose="02020603050405020304" pitchFamily="18" charset="0"/>
              </a:rPr>
              <a:t> ICPCSN, 2023.</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J. S. Vani et al., </a:t>
            </a: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HelmetGuard</a:t>
            </a:r>
            <a:r>
              <a:rPr lang="en-US" i="1" dirty="0">
                <a:latin typeface="Times New Roman" panose="02020603050405020304" pitchFamily="18" charset="0"/>
                <a:cs typeface="Times New Roman" panose="02020603050405020304" pitchFamily="18" charset="0"/>
              </a:rPr>
              <a:t>: IoT-Based Smart Helmet for Rider Safety,”</a:t>
            </a:r>
            <a:r>
              <a:rPr lang="en-US" dirty="0">
                <a:latin typeface="Times New Roman" panose="02020603050405020304" pitchFamily="18" charset="0"/>
                <a:cs typeface="Times New Roman" panose="02020603050405020304" pitchFamily="18" charset="0"/>
              </a:rPr>
              <a:t> STCR, 2023.</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P. Asha et al., </a:t>
            </a:r>
            <a:r>
              <a:rPr lang="en-US" i="1" dirty="0">
                <a:latin typeface="Times New Roman" panose="02020603050405020304" pitchFamily="18" charset="0"/>
                <a:cs typeface="Times New Roman" panose="02020603050405020304" pitchFamily="18" charset="0"/>
              </a:rPr>
              <a:t>“Ensuring Safety Drive through a Smart Helmet Design Using IoT,”</a:t>
            </a:r>
            <a:r>
              <a:rPr lang="en-US" dirty="0">
                <a:latin typeface="Times New Roman" panose="02020603050405020304" pitchFamily="18" charset="0"/>
                <a:cs typeface="Times New Roman" panose="02020603050405020304" pitchFamily="18" charset="0"/>
              </a:rPr>
              <a:t> ICCPCT, 2024.</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 A. Islam et al., </a:t>
            </a:r>
            <a:r>
              <a:rPr lang="en-US" i="1" dirty="0">
                <a:latin typeface="Times New Roman" panose="02020603050405020304" pitchFamily="18" charset="0"/>
                <a:cs typeface="Times New Roman" panose="02020603050405020304" pitchFamily="18" charset="0"/>
              </a:rPr>
              <a:t>“Smart Helmet with IoT Integration: Enhancing Rider Safety with Real-Time Hazard Alerts,”</a:t>
            </a:r>
            <a:r>
              <a:rPr lang="en-US" dirty="0">
                <a:latin typeface="Times New Roman" panose="02020603050405020304" pitchFamily="18" charset="0"/>
                <a:cs typeface="Times New Roman" panose="02020603050405020304" pitchFamily="18" charset="0"/>
              </a:rPr>
              <a:t> ICCIT, 2024.</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M. </a:t>
            </a:r>
            <a:r>
              <a:rPr lang="en-US" dirty="0" err="1">
                <a:latin typeface="Times New Roman" panose="02020603050405020304" pitchFamily="18" charset="0"/>
                <a:cs typeface="Times New Roman" panose="02020603050405020304" pitchFamily="18" charset="0"/>
              </a:rPr>
              <a:t>Jahidul</a:t>
            </a:r>
            <a:r>
              <a:rPr lang="en-US" dirty="0">
                <a:latin typeface="Times New Roman" panose="02020603050405020304" pitchFamily="18" charset="0"/>
                <a:cs typeface="Times New Roman" panose="02020603050405020304" pitchFamily="18" charset="0"/>
              </a:rPr>
              <a:t> Islam et al., </a:t>
            </a:r>
            <a:r>
              <a:rPr lang="en-US" i="1" dirty="0">
                <a:latin typeface="Times New Roman" panose="02020603050405020304" pitchFamily="18" charset="0"/>
                <a:cs typeface="Times New Roman" panose="02020603050405020304" pitchFamily="18" charset="0"/>
              </a:rPr>
              <a:t>“An IoT-Based Smart Helmet for Riding Security and Emergency Notification,”</a:t>
            </a:r>
            <a:r>
              <a:rPr lang="en-US" dirty="0">
                <a:latin typeface="Times New Roman" panose="02020603050405020304" pitchFamily="18" charset="0"/>
                <a:cs typeface="Times New Roman" panose="02020603050405020304" pitchFamily="18" charset="0"/>
              </a:rPr>
              <a:t> ICEEICT, 2024.</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 S. </a:t>
            </a:r>
            <a:r>
              <a:rPr lang="en-US" dirty="0" err="1">
                <a:latin typeface="Times New Roman" panose="02020603050405020304" pitchFamily="18" charset="0"/>
                <a:cs typeface="Times New Roman" panose="02020603050405020304" pitchFamily="18" charset="0"/>
              </a:rPr>
              <a:t>Tashfia</a:t>
            </a:r>
            <a:r>
              <a:rPr lang="en-US" dirty="0">
                <a:latin typeface="Times New Roman" panose="02020603050405020304" pitchFamily="18" charset="0"/>
                <a:cs typeface="Times New Roman" panose="02020603050405020304" pitchFamily="18" charset="0"/>
              </a:rPr>
              <a:t> et al., </a:t>
            </a:r>
            <a:r>
              <a:rPr lang="en-US" i="1" dirty="0">
                <a:latin typeface="Times New Roman" panose="02020603050405020304" pitchFamily="18" charset="0"/>
                <a:cs typeface="Times New Roman" panose="02020603050405020304" pitchFamily="18" charset="0"/>
              </a:rPr>
              <a:t>“Intelligent Motorcycle Monitoring Scheme Using IoT with Expert System in Bangladesh,”</a:t>
            </a:r>
            <a:r>
              <a:rPr lang="en-US" dirty="0">
                <a:latin typeface="Times New Roman" panose="02020603050405020304" pitchFamily="18" charset="0"/>
                <a:cs typeface="Times New Roman" panose="02020603050405020304" pitchFamily="18" charset="0"/>
              </a:rPr>
              <a:t> ICCIT, 2020.</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Mohammed Sakib Hasan, </a:t>
            </a:r>
            <a:r>
              <a:rPr lang="en-US" i="1" dirty="0">
                <a:latin typeface="Times New Roman" panose="02020603050405020304" pitchFamily="18" charset="0"/>
                <a:cs typeface="Times New Roman" panose="02020603050405020304" pitchFamily="18" charset="0"/>
              </a:rPr>
              <a:t>“SafeRide Dataset,”</a:t>
            </a:r>
            <a:r>
              <a:rPr lang="en-US" dirty="0">
                <a:latin typeface="Times New Roman" panose="02020603050405020304" pitchFamily="18" charset="0"/>
                <a:cs typeface="Times New Roman" panose="02020603050405020304" pitchFamily="18" charset="0"/>
              </a:rPr>
              <a:t> Kaggle, 2025.</a:t>
            </a:r>
          </a:p>
          <a:p>
            <a:endParaRPr lang="en-US" dirty="0"/>
          </a:p>
        </p:txBody>
      </p:sp>
    </p:spTree>
    <p:extLst>
      <p:ext uri="{BB962C8B-B14F-4D97-AF65-F5344CB8AC3E}">
        <p14:creationId xmlns:p14="http://schemas.microsoft.com/office/powerpoint/2010/main" val="775886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4122</TotalTime>
  <Words>1692</Words>
  <Application>Microsoft Office PowerPoint</Application>
  <PresentationFormat>Widescreen</PresentationFormat>
  <Paragraphs>159</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SimSun</vt:lpstr>
      <vt:lpstr>Aptos</vt:lpstr>
      <vt:lpstr>Arial</vt:lpstr>
      <vt:lpstr>Calibri</vt:lpstr>
      <vt:lpstr>Calibri Light</vt:lpstr>
      <vt:lpstr>Times New Roman</vt:lpstr>
      <vt:lpstr>Office Theme</vt:lpstr>
      <vt:lpstr>PowerPoint Presentation</vt:lpstr>
      <vt:lpstr>Abstract</vt:lpstr>
      <vt:lpstr>                         Introduction</vt:lpstr>
      <vt:lpstr>           Problem Statement</vt:lpstr>
      <vt:lpstr>Objective of SafeRide </vt:lpstr>
      <vt:lpstr>Related work (Literature Review)</vt:lpstr>
      <vt:lpstr>    System Architecture</vt:lpstr>
      <vt:lpstr>       Hardware Component &amp; Integration </vt:lpstr>
      <vt:lpstr>Data Acquisition &amp; Processing</vt:lpstr>
      <vt:lpstr>Alert System</vt:lpstr>
      <vt:lpstr>Smartphone App Workflow</vt:lpstr>
      <vt:lpstr>Experimental Results</vt:lpstr>
      <vt:lpstr>System Validation</vt:lpstr>
      <vt:lpstr>Road-Condition Dataset</vt:lpstr>
      <vt:lpstr>Comparative Analysis With Existing System</vt:lpstr>
      <vt:lpstr>Conclusion &amp; 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Pacific BD</cp:lastModifiedBy>
  <cp:revision>84</cp:revision>
  <dcterms:created xsi:type="dcterms:W3CDTF">2023-06-11T12:00:13Z</dcterms:created>
  <dcterms:modified xsi:type="dcterms:W3CDTF">2025-11-23T13:43:08Z</dcterms:modified>
</cp:coreProperties>
</file>